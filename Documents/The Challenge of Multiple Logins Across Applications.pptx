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image" Target="../media/image-2-10.png"/><Relationship Id="rId11" Type="http://schemas.openxmlformats.org/officeDocument/2006/relationships/image" Target="../media/image-2-11.png"/><Relationship Id="rId12" Type="http://schemas.openxmlformats.org/officeDocument/2006/relationships/image" Target="../media/image-2-12.png"/><Relationship Id="rId13" Type="http://schemas.openxmlformats.org/officeDocument/2006/relationships/image" Target="../media/image-2-13.png"/><Relationship Id="rId14" Type="http://schemas.openxmlformats.org/officeDocument/2006/relationships/image" Target="../media/image-2-14.png"/><Relationship Id="rId15" Type="http://schemas.openxmlformats.org/officeDocument/2006/relationships/image" Target="../media/image-2-15.png"/><Relationship Id="rId16" Type="http://schemas.openxmlformats.org/officeDocument/2006/relationships/slideLayout" Target="../slideLayouts/slideLayout1.xml"/><Relationship Id="rId1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image" Target="../media/image-3-10.png"/><Relationship Id="rId11" Type="http://schemas.openxmlformats.org/officeDocument/2006/relationships/image" Target="../media/image-3-11.png"/><Relationship Id="rId12" Type="http://schemas.openxmlformats.org/officeDocument/2006/relationships/image" Target="../media/image-3-12.png"/><Relationship Id="rId13" Type="http://schemas.openxmlformats.org/officeDocument/2006/relationships/image" Target="../media/image-3-13.png"/><Relationship Id="rId14" Type="http://schemas.openxmlformats.org/officeDocument/2006/relationships/image" Target="../media/image-3-14.png"/><Relationship Id="rId15" Type="http://schemas.openxmlformats.org/officeDocument/2006/relationships/image" Target="../media/image-3-15.png"/><Relationship Id="rId16" Type="http://schemas.openxmlformats.org/officeDocument/2006/relationships/image" Target="../media/image-3-16.png"/><Relationship Id="rId17" Type="http://schemas.openxmlformats.org/officeDocument/2006/relationships/slideLayout" Target="../slideLayouts/slideLayout1.xml"/><Relationship Id="rId1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image" Target="../media/image-4-10.png"/><Relationship Id="rId11" Type="http://schemas.openxmlformats.org/officeDocument/2006/relationships/image" Target="../media/image-4-11.png"/><Relationship Id="rId12" Type="http://schemas.openxmlformats.org/officeDocument/2006/relationships/image" Target="../media/image-4-12.png"/><Relationship Id="rId13" Type="http://schemas.openxmlformats.org/officeDocument/2006/relationships/image" Target="../media/image-4-13.png"/><Relationship Id="rId14" Type="http://schemas.openxmlformats.org/officeDocument/2006/relationships/image" Target="../media/image-4-14.png"/><Relationship Id="rId15" Type="http://schemas.openxmlformats.org/officeDocument/2006/relationships/image" Target="../media/image-4-15.png"/><Relationship Id="rId16" Type="http://schemas.openxmlformats.org/officeDocument/2006/relationships/image" Target="../media/image-4-16.png"/><Relationship Id="rId17" Type="http://schemas.openxmlformats.org/officeDocument/2006/relationships/image" Target="../media/image-4-17.png"/><Relationship Id="rId18" Type="http://schemas.openxmlformats.org/officeDocument/2006/relationships/slideLayout" Target="../slideLayouts/slideLayout1.xml"/><Relationship Id="rId19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image" Target="../media/image-6-9.png"/><Relationship Id="rId10" Type="http://schemas.openxmlformats.org/officeDocument/2006/relationships/image" Target="../media/image-6-10.png"/><Relationship Id="rId11" Type="http://schemas.openxmlformats.org/officeDocument/2006/relationships/image" Target="../media/image-6-11.png"/><Relationship Id="rId12" Type="http://schemas.openxmlformats.org/officeDocument/2006/relationships/image" Target="../media/image-6-12.png"/><Relationship Id="rId13" Type="http://schemas.openxmlformats.org/officeDocument/2006/relationships/image" Target="../media/image-6-13.png"/><Relationship Id="rId14" Type="http://schemas.openxmlformats.org/officeDocument/2006/relationships/image" Target="../media/image-6-14.png"/><Relationship Id="rId15" Type="http://schemas.openxmlformats.org/officeDocument/2006/relationships/image" Target="../media/image-6-15.png"/><Relationship Id="rId16" Type="http://schemas.openxmlformats.org/officeDocument/2006/relationships/image" Target="../media/image-6-16.png"/><Relationship Id="rId17" Type="http://schemas.openxmlformats.org/officeDocument/2006/relationships/image" Target="../media/image-6-17.png"/><Relationship Id="rId18" Type="http://schemas.openxmlformats.org/officeDocument/2006/relationships/image" Target="../media/image-6-18.png"/><Relationship Id="rId19" Type="http://schemas.openxmlformats.org/officeDocument/2006/relationships/image" Target="../media/image-6-19.png"/><Relationship Id="rId20" Type="http://schemas.openxmlformats.org/officeDocument/2006/relationships/image" Target="../media/image-6-20.png"/><Relationship Id="rId21" Type="http://schemas.openxmlformats.org/officeDocument/2006/relationships/slideLayout" Target="../slideLayouts/slideLayout1.xml"/><Relationship Id="rId2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image" Target="../media/image-8-9.png"/><Relationship Id="rId10" Type="http://schemas.openxmlformats.org/officeDocument/2006/relationships/image" Target="../media/image-8-10.png"/><Relationship Id="rId11" Type="http://schemas.openxmlformats.org/officeDocument/2006/relationships/image" Target="../media/image-8-11.png"/><Relationship Id="rId12" Type="http://schemas.openxmlformats.org/officeDocument/2006/relationships/image" Target="../media/image-8-12.png"/><Relationship Id="rId13" Type="http://schemas.openxmlformats.org/officeDocument/2006/relationships/image" Target="../media/image-8-13.png"/><Relationship Id="rId14" Type="http://schemas.openxmlformats.org/officeDocument/2006/relationships/image" Target="../media/image-8-14.png"/><Relationship Id="rId15" Type="http://schemas.openxmlformats.org/officeDocument/2006/relationships/image" Target="../media/image-8-15.png"/><Relationship Id="rId16" Type="http://schemas.openxmlformats.org/officeDocument/2006/relationships/image" Target="../media/image-8-16.png"/><Relationship Id="rId17" Type="http://schemas.openxmlformats.org/officeDocument/2006/relationships/image" Target="../media/image-8-17.png"/><Relationship Id="rId18" Type="http://schemas.openxmlformats.org/officeDocument/2006/relationships/image" Target="../media/image-8-18.png"/><Relationship Id="rId19" Type="http://schemas.openxmlformats.org/officeDocument/2006/relationships/image" Target="../media/image-8-19.png"/><Relationship Id="rId20" Type="http://schemas.openxmlformats.org/officeDocument/2006/relationships/image" Target="../media/image-8-20.png"/><Relationship Id="rId21" Type="http://schemas.openxmlformats.org/officeDocument/2006/relationships/image" Target="../media/image-8-21.png"/><Relationship Id="rId22" Type="http://schemas.openxmlformats.org/officeDocument/2006/relationships/image" Target="../media/image-8-22.png"/><Relationship Id="rId23" Type="http://schemas.openxmlformats.org/officeDocument/2006/relationships/slideLayout" Target="../slideLayouts/slideLayout1.xml"/><Relationship Id="rId2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image" Target="../media/image-9-8.png"/><Relationship Id="rId9" Type="http://schemas.openxmlformats.org/officeDocument/2006/relationships/image" Target="../media/image-9-9.png"/><Relationship Id="rId10" Type="http://schemas.openxmlformats.org/officeDocument/2006/relationships/image" Target="../media/image-9-10.png"/><Relationship Id="rId11" Type="http://schemas.openxmlformats.org/officeDocument/2006/relationships/image" Target="../media/image-9-11.png"/><Relationship Id="rId12" Type="http://schemas.openxmlformats.org/officeDocument/2006/relationships/image" Target="../media/image-9-12.png"/><Relationship Id="rId13" Type="http://schemas.openxmlformats.org/officeDocument/2006/relationships/image" Target="../media/image-9-13.png"/><Relationship Id="rId14" Type="http://schemas.openxmlformats.org/officeDocument/2006/relationships/image" Target="../media/image-9-14.png"/><Relationship Id="rId15" Type="http://schemas.openxmlformats.org/officeDocument/2006/relationships/image" Target="../media/image-9-15.png"/><Relationship Id="rId16" Type="http://schemas.openxmlformats.org/officeDocument/2006/relationships/image" Target="../media/image-9-16.png"/><Relationship Id="rId17" Type="http://schemas.openxmlformats.org/officeDocument/2006/relationships/image" Target="../media/image-9-17.png"/><Relationship Id="rId18" Type="http://schemas.openxmlformats.org/officeDocument/2006/relationships/image" Target="../media/image-9-18.png"/><Relationship Id="rId19" Type="http://schemas.openxmlformats.org/officeDocument/2006/relationships/image" Target="../media/image-9-19.png"/><Relationship Id="rId20" Type="http://schemas.openxmlformats.org/officeDocument/2006/relationships/image" Target="../media/image-9-20.png"/><Relationship Id="rId21" Type="http://schemas.openxmlformats.org/officeDocument/2006/relationships/image" Target="../media/image-9-21.png"/><Relationship Id="rId22" Type="http://schemas.openxmlformats.org/officeDocument/2006/relationships/image" Target="../media/image-9-22.png"/><Relationship Id="rId23" Type="http://schemas.openxmlformats.org/officeDocument/2006/relationships/image" Target="../media/image-9-23.png"/><Relationship Id="rId24" Type="http://schemas.openxmlformats.org/officeDocument/2006/relationships/image" Target="../media/image-9-24.png"/><Relationship Id="rId25" Type="http://schemas.openxmlformats.org/officeDocument/2006/relationships/image" Target="../media/image-9-25.png"/><Relationship Id="rId26" Type="http://schemas.openxmlformats.org/officeDocument/2006/relationships/image" Target="../media/image-9-26.png"/><Relationship Id="rId27" Type="http://schemas.openxmlformats.org/officeDocument/2006/relationships/slideLayout" Target="../slideLayouts/slideLayout1.xml"/><Relationship Id="rId2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image" Target="../media/image-10-8.png"/><Relationship Id="rId9" Type="http://schemas.openxmlformats.org/officeDocument/2006/relationships/image" Target="../media/image-10-9.png"/><Relationship Id="rId10" Type="http://schemas.openxmlformats.org/officeDocument/2006/relationships/image" Target="../media/image-10-10.png"/><Relationship Id="rId11" Type="http://schemas.openxmlformats.org/officeDocument/2006/relationships/image" Target="../media/image-10-11.png"/><Relationship Id="rId12" Type="http://schemas.openxmlformats.org/officeDocument/2006/relationships/image" Target="../media/image-10-12.png"/><Relationship Id="rId13" Type="http://schemas.openxmlformats.org/officeDocument/2006/relationships/image" Target="../media/image-10-13.png"/><Relationship Id="rId14" Type="http://schemas.openxmlformats.org/officeDocument/2006/relationships/image" Target="../media/image-10-14.png"/><Relationship Id="rId15" Type="http://schemas.openxmlformats.org/officeDocument/2006/relationships/image" Target="../media/image-10-15.png"/><Relationship Id="rId16" Type="http://schemas.openxmlformats.org/officeDocument/2006/relationships/image" Target="../media/image-10-16.png"/><Relationship Id="rId17" Type="http://schemas.openxmlformats.org/officeDocument/2006/relationships/image" Target="../media/image-10-17.png"/><Relationship Id="rId18" Type="http://schemas.openxmlformats.org/officeDocument/2006/relationships/image" Target="../media/image-10-18.png"/><Relationship Id="rId19" Type="http://schemas.openxmlformats.org/officeDocument/2006/relationships/image" Target="../media/image-10-19.png"/><Relationship Id="rId20" Type="http://schemas.openxmlformats.org/officeDocument/2006/relationships/image" Target="../media/image-10-20.png"/><Relationship Id="rId21" Type="http://schemas.openxmlformats.org/officeDocument/2006/relationships/image" Target="../media/image-10-21.png"/><Relationship Id="rId22" Type="http://schemas.openxmlformats.org/officeDocument/2006/relationships/image" Target="../media/image-10-22.png"/><Relationship Id="rId23" Type="http://schemas.openxmlformats.org/officeDocument/2006/relationships/image" Target="../media/image-10-23.png"/><Relationship Id="rId24" Type="http://schemas.openxmlformats.org/officeDocument/2006/relationships/slideLayout" Target="../slideLayouts/slideLayout1.xml"/><Relationship Id="rId25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381000"/>
            <a:ext cx="762000" cy="381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1981200"/>
            <a:ext cx="228600" cy="22860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162300"/>
            <a:ext cx="228600" cy="228600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4343400"/>
            <a:ext cx="228600" cy="228600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24600" y="1943100"/>
            <a:ext cx="5295900" cy="4962525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29400" y="5915025"/>
            <a:ext cx="4686300" cy="685800"/>
          </a:xfrm>
          <a:prstGeom prst="rect">
            <a:avLst/>
          </a:prstGeom>
        </p:spPr>
      </p:pic>
      <p:sp>
        <p:nvSpPr>
          <p:cNvPr id="9" name="Text 0"/>
          <p:cNvSpPr/>
          <p:nvPr/>
        </p:nvSpPr>
        <p:spPr>
          <a:xfrm>
            <a:off x="571500" y="571500"/>
            <a:ext cx="1325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006D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Challenge of Multiple Logins</a:t>
            </a:r>
            <a:endParaRPr lang="en-US" sz="3600" dirty="0"/>
          </a:p>
        </p:txBody>
      </p:sp>
      <p:sp>
        <p:nvSpPr>
          <p:cNvPr id="10" name="Text 1"/>
          <p:cNvSpPr/>
          <p:nvPr/>
        </p:nvSpPr>
        <p:spPr>
          <a:xfrm>
            <a:off x="571500" y="1181100"/>
            <a:ext cx="13258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400"/>
              </a:lnSpc>
              <a:buNone/>
            </a:pPr>
            <a:r>
              <a:rPr lang="en-US" sz="1800" dirty="0">
                <a:solidFill>
                  <a:srgbClr val="083D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Fragmentation leads to security vulnerabilities and operational inefficiency.</a:t>
            </a:r>
            <a:endParaRPr lang="en-US" sz="1800" dirty="0"/>
          </a:p>
        </p:txBody>
      </p:sp>
      <p:sp>
        <p:nvSpPr>
          <p:cNvPr id="11" name="Text 2"/>
          <p:cNvSpPr/>
          <p:nvPr/>
        </p:nvSpPr>
        <p:spPr>
          <a:xfrm>
            <a:off x="952500" y="1943100"/>
            <a:ext cx="49149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083D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Password Sprawl</a:t>
            </a:r>
            <a:endParaRPr lang="en-US" sz="1800" dirty="0"/>
          </a:p>
        </p:txBody>
      </p:sp>
      <p:sp>
        <p:nvSpPr>
          <p:cNvPr id="12" name="Text 3"/>
          <p:cNvSpPr/>
          <p:nvPr/>
        </p:nvSpPr>
        <p:spPr>
          <a:xfrm>
            <a:off x="952500" y="2286000"/>
            <a:ext cx="49149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Users struggle with numerous credentials, resorting to weak or reused passwords across siloed systems.</a:t>
            </a:r>
            <a:endParaRPr lang="en-US" sz="1350" dirty="0"/>
          </a:p>
        </p:txBody>
      </p:sp>
      <p:sp>
        <p:nvSpPr>
          <p:cNvPr id="13" name="Text 4"/>
          <p:cNvSpPr/>
          <p:nvPr/>
        </p:nvSpPr>
        <p:spPr>
          <a:xfrm>
            <a:off x="952500" y="3124200"/>
            <a:ext cx="589788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083D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Technical Complexity</a:t>
            </a:r>
            <a:endParaRPr lang="en-US" sz="1800" dirty="0"/>
          </a:p>
        </p:txBody>
      </p:sp>
      <p:sp>
        <p:nvSpPr>
          <p:cNvPr id="14" name="Text 5"/>
          <p:cNvSpPr/>
          <p:nvPr/>
        </p:nvSpPr>
        <p:spPr>
          <a:xfrm>
            <a:off x="952500" y="3467100"/>
            <a:ext cx="49149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Each application requires independent management of sessions, user storage, and security logic.</a:t>
            </a:r>
            <a:endParaRPr lang="en-US" sz="1350" dirty="0"/>
          </a:p>
        </p:txBody>
      </p:sp>
      <p:sp>
        <p:nvSpPr>
          <p:cNvPr id="15" name="Text 6"/>
          <p:cNvSpPr/>
          <p:nvPr/>
        </p:nvSpPr>
        <p:spPr>
          <a:xfrm>
            <a:off x="952500" y="4305300"/>
            <a:ext cx="589788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083D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Access Governance Risk</a:t>
            </a:r>
            <a:endParaRPr lang="en-US" sz="1800" dirty="0"/>
          </a:p>
        </p:txBody>
      </p:sp>
      <p:sp>
        <p:nvSpPr>
          <p:cNvPr id="16" name="Text 7"/>
          <p:cNvSpPr/>
          <p:nvPr/>
        </p:nvSpPr>
        <p:spPr>
          <a:xfrm>
            <a:off x="952500" y="4648200"/>
            <a:ext cx="49149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Difficult to sync roles/permissions or revoke access instantly across disparate user pools.</a:t>
            </a:r>
            <a:endParaRPr lang="en-US" sz="1350" dirty="0"/>
          </a:p>
        </p:txBody>
      </p:sp>
      <p:sp>
        <p:nvSpPr>
          <p:cNvPr id="17" name="Text 8"/>
          <p:cNvSpPr/>
          <p:nvPr/>
        </p:nvSpPr>
        <p:spPr>
          <a:xfrm>
            <a:off x="6629400" y="2247900"/>
            <a:ext cx="46863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spc="60" kern="0" dirty="0">
                <a:solidFill>
                  <a:srgbClr val="006D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IMPACT ANALYSIS</a:t>
            </a:r>
            <a:endParaRPr lang="en-US" sz="1500" dirty="0"/>
          </a:p>
        </p:txBody>
      </p:sp>
      <p:sp>
        <p:nvSpPr>
          <p:cNvPr id="18" name="Text 9"/>
          <p:cNvSpPr/>
          <p:nvPr/>
        </p:nvSpPr>
        <p:spPr>
          <a:xfrm>
            <a:off x="7010400" y="5124450"/>
            <a:ext cx="15049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083D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Help Desk Tickets</a:t>
            </a:r>
            <a:pPr algn="ctr" indent="0" marL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083D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pPr algn="ctr" indent="0" marL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E295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40% Password Related</a:t>
            </a:r>
            <a:endParaRPr lang="en-US" sz="1050" dirty="0"/>
          </a:p>
        </p:txBody>
      </p:sp>
      <p:sp>
        <p:nvSpPr>
          <p:cNvPr id="19" name="Text 10"/>
          <p:cNvSpPr/>
          <p:nvPr/>
        </p:nvSpPr>
        <p:spPr>
          <a:xfrm>
            <a:off x="7353300" y="5543550"/>
            <a:ext cx="98298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125"/>
              </a:lnSpc>
              <a:buNone/>
            </a:pPr>
            <a:r>
              <a:rPr lang="en-US" sz="7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(Gartner Analysis)</a:t>
            </a:r>
            <a:endParaRPr lang="en-US" sz="750" dirty="0"/>
          </a:p>
        </p:txBody>
      </p:sp>
      <p:sp>
        <p:nvSpPr>
          <p:cNvPr id="20" name="Text 11"/>
          <p:cNvSpPr/>
          <p:nvPr/>
        </p:nvSpPr>
        <p:spPr>
          <a:xfrm>
            <a:off x="9501188" y="5124450"/>
            <a:ext cx="13620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083D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Breaches</a:t>
            </a:r>
            <a:pPr algn="ctr" indent="0" marL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083D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pPr algn="ctr" indent="0" marL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E295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68% Human Element</a:t>
            </a:r>
            <a:endParaRPr lang="en-US" sz="1050" dirty="0"/>
          </a:p>
        </p:txBody>
      </p:sp>
      <p:sp>
        <p:nvSpPr>
          <p:cNvPr id="21" name="Text 12"/>
          <p:cNvSpPr/>
          <p:nvPr/>
        </p:nvSpPr>
        <p:spPr>
          <a:xfrm>
            <a:off x="9720263" y="5543550"/>
            <a:ext cx="110871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125"/>
              </a:lnSpc>
              <a:buNone/>
            </a:pPr>
            <a:r>
              <a:rPr lang="en-US" sz="7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(Verizon 2024 DBIR)</a:t>
            </a:r>
            <a:endParaRPr lang="en-US" sz="750" dirty="0"/>
          </a:p>
        </p:txBody>
      </p:sp>
      <p:sp>
        <p:nvSpPr>
          <p:cNvPr id="22" name="Text 13"/>
          <p:cNvSpPr/>
          <p:nvPr/>
        </p:nvSpPr>
        <p:spPr>
          <a:xfrm>
            <a:off x="6781800" y="6067425"/>
            <a:ext cx="4381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i="1" dirty="0">
                <a:solidFill>
                  <a:srgbClr val="083D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"Managing user roles across disparate systems becomes increasingly difficult as organizations scale, rising security risks significantly."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35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1679" y="2193586"/>
            <a:ext cx="4563021" cy="3161756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55597" y="2012914"/>
            <a:ext cx="6484659" cy="1053919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36268" y="2193586"/>
            <a:ext cx="542016" cy="567422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56716" y="2314034"/>
            <a:ext cx="301120" cy="304766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55597" y="3247505"/>
            <a:ext cx="6484659" cy="1053919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436268" y="3428177"/>
            <a:ext cx="504376" cy="567422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556716" y="3548625"/>
            <a:ext cx="263480" cy="304766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255597" y="4482096"/>
            <a:ext cx="6484659" cy="1053919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436268" y="4662767"/>
            <a:ext cx="542016" cy="567422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556716" y="4783215"/>
            <a:ext cx="301120" cy="304766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51679" y="5897358"/>
            <a:ext cx="11288576" cy="590006"/>
          </a:xfrm>
          <a:prstGeom prst="rect">
            <a:avLst/>
          </a:prstGeom>
        </p:spPr>
      </p:pic>
      <p:pic>
        <p:nvPicPr>
          <p:cNvPr id="14" name="Image 12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952453" y="6116140"/>
            <a:ext cx="150560" cy="152442"/>
          </a:xfrm>
          <a:prstGeom prst="rect">
            <a:avLst/>
          </a:prstGeom>
        </p:spPr>
      </p:pic>
      <p:pic>
        <p:nvPicPr>
          <p:cNvPr id="15" name="Image 13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338826" y="6116140"/>
            <a:ext cx="150559" cy="152442"/>
          </a:xfrm>
          <a:prstGeom prst="rect">
            <a:avLst/>
          </a:prstGeom>
        </p:spPr>
      </p:pic>
      <p:sp>
        <p:nvSpPr>
          <p:cNvPr id="16" name="Text 0"/>
          <p:cNvSpPr/>
          <p:nvPr/>
        </p:nvSpPr>
        <p:spPr>
          <a:xfrm>
            <a:off x="451679" y="451679"/>
            <a:ext cx="13546291" cy="457208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006D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Solution: Single Sign-On (SSO) Concept</a:t>
            </a:r>
            <a:endParaRPr lang="en-US" sz="3600" dirty="0"/>
          </a:p>
        </p:txBody>
      </p:sp>
      <p:sp>
        <p:nvSpPr>
          <p:cNvPr id="17" name="Text 1"/>
          <p:cNvSpPr/>
          <p:nvPr/>
        </p:nvSpPr>
        <p:spPr>
          <a:xfrm>
            <a:off x="451679" y="1029335"/>
            <a:ext cx="6745080" cy="742683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925"/>
              </a:lnSpc>
              <a:buNone/>
            </a:pPr>
            <a:r>
              <a:rPr lang="en-US" sz="1800" dirty="0">
                <a:solidFill>
                  <a:srgbClr val="083D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SSO is a centralized authentication process that allows a user to access multiple applications with a single set of credentials.</a:t>
            </a:r>
            <a:endParaRPr lang="en-US" sz="1800" dirty="0"/>
          </a:p>
        </p:txBody>
      </p:sp>
      <p:sp>
        <p:nvSpPr>
          <p:cNvPr id="18" name="Text 2"/>
          <p:cNvSpPr/>
          <p:nvPr/>
        </p:nvSpPr>
        <p:spPr>
          <a:xfrm>
            <a:off x="632351" y="2374258"/>
            <a:ext cx="5042013" cy="210784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660"/>
              </a:lnSpc>
              <a:buNone/>
            </a:pPr>
            <a:r>
              <a:rPr lang="en-US" sz="1500" b="1" dirty="0">
                <a:solidFill>
                  <a:srgbClr val="006D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Efficiency Impact</a:t>
            </a:r>
            <a:endParaRPr lang="en-US" sz="1500" dirty="0"/>
          </a:p>
        </p:txBody>
      </p:sp>
      <p:sp>
        <p:nvSpPr>
          <p:cNvPr id="19" name="Text 3"/>
          <p:cNvSpPr/>
          <p:nvPr/>
        </p:nvSpPr>
        <p:spPr>
          <a:xfrm>
            <a:off x="632351" y="2645266"/>
            <a:ext cx="5042013" cy="15056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186"/>
              </a:lnSpc>
              <a:buNone/>
            </a:pPr>
            <a:r>
              <a:rPr lang="en-US" sz="1050" i="1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Average passwords per employee</a:t>
            </a:r>
            <a:endParaRPr lang="en-US" sz="1050" dirty="0"/>
          </a:p>
        </p:txBody>
      </p:sp>
      <p:sp>
        <p:nvSpPr>
          <p:cNvPr id="20" name="Text 4"/>
          <p:cNvSpPr/>
          <p:nvPr/>
        </p:nvSpPr>
        <p:spPr>
          <a:xfrm>
            <a:off x="6128843" y="2193586"/>
            <a:ext cx="6516889" cy="240896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97"/>
              </a:lnSpc>
              <a:buNone/>
            </a:pPr>
            <a:r>
              <a:rPr lang="en-US" sz="1800" b="1" dirty="0">
                <a:solidFill>
                  <a:srgbClr val="006D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Unified Authentication</a:t>
            </a:r>
            <a:endParaRPr lang="en-US" sz="1800" dirty="0"/>
          </a:p>
        </p:txBody>
      </p:sp>
      <p:sp>
        <p:nvSpPr>
          <p:cNvPr id="21" name="Text 5"/>
          <p:cNvSpPr/>
          <p:nvPr/>
        </p:nvSpPr>
        <p:spPr>
          <a:xfrm>
            <a:off x="6128843" y="2464594"/>
            <a:ext cx="5430741" cy="421568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660"/>
              </a:lnSpc>
              <a:buNone/>
            </a:pPr>
            <a:r>
              <a:rPr lang="en-US" sz="135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Identity Provider (IdP) acts as the single source of truth, verifying the user once for the entire session.</a:t>
            </a:r>
            <a:endParaRPr lang="en-US" sz="1350" dirty="0"/>
          </a:p>
        </p:txBody>
      </p:sp>
      <p:sp>
        <p:nvSpPr>
          <p:cNvPr id="22" name="Text 6"/>
          <p:cNvSpPr/>
          <p:nvPr/>
        </p:nvSpPr>
        <p:spPr>
          <a:xfrm>
            <a:off x="6091204" y="3428177"/>
            <a:ext cx="5468380" cy="240896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97"/>
              </a:lnSpc>
              <a:buNone/>
            </a:pPr>
            <a:r>
              <a:rPr lang="en-US" sz="1800" b="1" dirty="0">
                <a:solidFill>
                  <a:srgbClr val="006D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Seamless Access</a:t>
            </a:r>
            <a:endParaRPr lang="en-US" sz="1800" dirty="0"/>
          </a:p>
        </p:txBody>
      </p:sp>
      <p:sp>
        <p:nvSpPr>
          <p:cNvPr id="23" name="Text 7"/>
          <p:cNvSpPr/>
          <p:nvPr/>
        </p:nvSpPr>
        <p:spPr>
          <a:xfrm>
            <a:off x="6091204" y="3699184"/>
            <a:ext cx="5468380" cy="421568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660"/>
              </a:lnSpc>
              <a:buNone/>
            </a:pPr>
            <a:r>
              <a:rPr lang="en-US" sz="135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Users gain instant access to all authorized applications without repetitive login prompts or password fatigue.</a:t>
            </a:r>
            <a:endParaRPr lang="en-US" sz="1350" dirty="0"/>
          </a:p>
        </p:txBody>
      </p:sp>
      <p:sp>
        <p:nvSpPr>
          <p:cNvPr id="24" name="Text 8"/>
          <p:cNvSpPr/>
          <p:nvPr/>
        </p:nvSpPr>
        <p:spPr>
          <a:xfrm>
            <a:off x="6128843" y="4662767"/>
            <a:ext cx="6516889" cy="240895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97"/>
              </a:lnSpc>
              <a:buNone/>
            </a:pPr>
            <a:r>
              <a:rPr lang="en-US" sz="1800" b="1" dirty="0">
                <a:solidFill>
                  <a:srgbClr val="006D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Centralized Control</a:t>
            </a:r>
            <a:endParaRPr lang="en-US" sz="1800" dirty="0"/>
          </a:p>
        </p:txBody>
      </p:sp>
      <p:sp>
        <p:nvSpPr>
          <p:cNvPr id="25" name="Text 9"/>
          <p:cNvSpPr/>
          <p:nvPr/>
        </p:nvSpPr>
        <p:spPr>
          <a:xfrm>
            <a:off x="6128843" y="4933775"/>
            <a:ext cx="5430741" cy="421567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660"/>
              </a:lnSpc>
              <a:buNone/>
            </a:pPr>
            <a:r>
              <a:rPr lang="en-US" sz="135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Authentication policies like MFA are enforced globally at the IdP level, strengthening the entire ecosystem.</a:t>
            </a:r>
            <a:endParaRPr lang="en-US" sz="1350" dirty="0"/>
          </a:p>
        </p:txBody>
      </p:sp>
      <p:sp>
        <p:nvSpPr>
          <p:cNvPr id="26" name="Text 10"/>
          <p:cNvSpPr/>
          <p:nvPr/>
        </p:nvSpPr>
        <p:spPr>
          <a:xfrm>
            <a:off x="632351" y="6086969"/>
            <a:ext cx="3757974" cy="210784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660"/>
              </a:lnSpc>
              <a:buNone/>
            </a:pPr>
            <a:r>
              <a:rPr lang="en-US" sz="1500" i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"Login once -&gt; Access many apps"</a:t>
            </a:r>
            <a:endParaRPr lang="en-US" sz="1500" dirty="0"/>
          </a:p>
        </p:txBody>
      </p:sp>
      <p:sp>
        <p:nvSpPr>
          <p:cNvPr id="27" name="Text 11"/>
          <p:cNvSpPr/>
          <p:nvPr/>
        </p:nvSpPr>
        <p:spPr>
          <a:xfrm>
            <a:off x="7163237" y="6078030"/>
            <a:ext cx="2321633" cy="228663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Reduces Helpdesk Tickets</a:t>
            </a:r>
            <a:endParaRPr lang="en-US" sz="1200" dirty="0"/>
          </a:p>
        </p:txBody>
      </p:sp>
      <p:sp>
        <p:nvSpPr>
          <p:cNvPr id="28" name="Text 12"/>
          <p:cNvSpPr/>
          <p:nvPr/>
        </p:nvSpPr>
        <p:spPr>
          <a:xfrm>
            <a:off x="9549610" y="6078030"/>
            <a:ext cx="2411969" cy="228663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Enhances User Productivity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02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935" y="400584"/>
            <a:ext cx="480701" cy="32047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935" y="1723012"/>
            <a:ext cx="5326767" cy="1966618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7308" y="1979386"/>
            <a:ext cx="664970" cy="677112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7542" y="2139620"/>
            <a:ext cx="344502" cy="320467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24076" y="1723012"/>
            <a:ext cx="5326892" cy="1966618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80449" y="1979386"/>
            <a:ext cx="753098" cy="677112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40683" y="2139620"/>
            <a:ext cx="432631" cy="320467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0935" y="3946004"/>
            <a:ext cx="5326767" cy="1966618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97308" y="4202378"/>
            <a:ext cx="705028" cy="677112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57542" y="4362611"/>
            <a:ext cx="384561" cy="320467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224076" y="3946004"/>
            <a:ext cx="5326892" cy="1966618"/>
          </a:xfrm>
          <a:prstGeom prst="rect">
            <a:avLst/>
          </a:prstGeom>
        </p:spPr>
      </p:pic>
      <p:pic>
        <p:nvPicPr>
          <p:cNvPr id="14" name="Image 12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480449" y="4202378"/>
            <a:ext cx="664970" cy="677112"/>
          </a:xfrm>
          <a:prstGeom prst="rect">
            <a:avLst/>
          </a:prstGeom>
        </p:spPr>
      </p:pic>
      <p:pic>
        <p:nvPicPr>
          <p:cNvPr id="15" name="Image 13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640683" y="4362611"/>
            <a:ext cx="344502" cy="320467"/>
          </a:xfrm>
          <a:prstGeom prst="rect">
            <a:avLst/>
          </a:prstGeom>
        </p:spPr>
      </p:pic>
      <p:pic>
        <p:nvPicPr>
          <p:cNvPr id="16" name="Image 14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857709" y="6265136"/>
            <a:ext cx="168245" cy="171375"/>
          </a:xfrm>
          <a:prstGeom prst="rect">
            <a:avLst/>
          </a:prstGeom>
        </p:spPr>
      </p:pic>
      <p:sp>
        <p:nvSpPr>
          <p:cNvPr id="17" name="Text 0"/>
          <p:cNvSpPr/>
          <p:nvPr/>
        </p:nvSpPr>
        <p:spPr>
          <a:xfrm>
            <a:off x="640935" y="560818"/>
            <a:ext cx="13092041" cy="457167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006D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Core SSO Architecture</a:t>
            </a:r>
            <a:endParaRPr lang="en-US" sz="3600" dirty="0"/>
          </a:p>
        </p:txBody>
      </p:sp>
      <p:sp>
        <p:nvSpPr>
          <p:cNvPr id="18" name="Text 1"/>
          <p:cNvSpPr/>
          <p:nvPr/>
        </p:nvSpPr>
        <p:spPr>
          <a:xfrm>
            <a:off x="640935" y="1082078"/>
            <a:ext cx="13092041" cy="256374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019"/>
              </a:lnSpc>
              <a:buNone/>
            </a:pPr>
            <a:r>
              <a:rPr lang="en-US" sz="1800" dirty="0">
                <a:solidFill>
                  <a:srgbClr val="083D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four pillars of centralized identity management.</a:t>
            </a:r>
            <a:endParaRPr lang="en-US" sz="1800" dirty="0"/>
          </a:p>
        </p:txBody>
      </p:sp>
      <p:sp>
        <p:nvSpPr>
          <p:cNvPr id="19" name="Text 2"/>
          <p:cNvSpPr/>
          <p:nvPr/>
        </p:nvSpPr>
        <p:spPr>
          <a:xfrm>
            <a:off x="1754558" y="1979386"/>
            <a:ext cx="3956770" cy="256374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019"/>
              </a:lnSpc>
              <a:buNone/>
            </a:pPr>
            <a:r>
              <a:rPr lang="en-US" sz="1800" b="1" dirty="0">
                <a:solidFill>
                  <a:srgbClr val="006D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User</a:t>
            </a:r>
            <a:endParaRPr lang="en-US" sz="1800" dirty="0"/>
          </a:p>
        </p:txBody>
      </p:sp>
      <p:sp>
        <p:nvSpPr>
          <p:cNvPr id="20" name="Text 3"/>
          <p:cNvSpPr/>
          <p:nvPr/>
        </p:nvSpPr>
        <p:spPr>
          <a:xfrm>
            <a:off x="1754558" y="2331900"/>
            <a:ext cx="3956770" cy="835969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94"/>
              </a:lnSpc>
              <a:buNone/>
            </a:pPr>
            <a:r>
              <a:rPr lang="en-US" sz="13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individual seeking access to resources. Authenticates once to the IdP to establish trust across the ecosystem.</a:t>
            </a:r>
            <a:endParaRPr lang="en-US" sz="1350" dirty="0"/>
          </a:p>
        </p:txBody>
      </p:sp>
      <p:sp>
        <p:nvSpPr>
          <p:cNvPr id="21" name="Text 4"/>
          <p:cNvSpPr/>
          <p:nvPr/>
        </p:nvSpPr>
        <p:spPr>
          <a:xfrm>
            <a:off x="7425828" y="1979386"/>
            <a:ext cx="4642519" cy="256374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019"/>
              </a:lnSpc>
              <a:buNone/>
            </a:pPr>
            <a:r>
              <a:rPr lang="en-US" sz="1800" b="1" dirty="0">
                <a:solidFill>
                  <a:srgbClr val="006D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Application (SP)</a:t>
            </a:r>
            <a:endParaRPr lang="en-US" sz="1800" dirty="0"/>
          </a:p>
        </p:txBody>
      </p:sp>
      <p:sp>
        <p:nvSpPr>
          <p:cNvPr id="22" name="Text 5"/>
          <p:cNvSpPr/>
          <p:nvPr/>
        </p:nvSpPr>
        <p:spPr>
          <a:xfrm>
            <a:off x="7425828" y="2331900"/>
            <a:ext cx="3868766" cy="835969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94"/>
              </a:lnSpc>
              <a:buNone/>
            </a:pPr>
            <a:r>
              <a:rPr lang="en-US" sz="13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service provider that relies on the IdP. It trusts the IdP's verification rather than handling credentials itself.</a:t>
            </a:r>
            <a:endParaRPr lang="en-US" sz="1350" dirty="0"/>
          </a:p>
        </p:txBody>
      </p:sp>
      <p:sp>
        <p:nvSpPr>
          <p:cNvPr id="23" name="Text 6"/>
          <p:cNvSpPr/>
          <p:nvPr/>
        </p:nvSpPr>
        <p:spPr>
          <a:xfrm>
            <a:off x="1794617" y="4202378"/>
            <a:ext cx="4700054" cy="256374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019"/>
              </a:lnSpc>
              <a:buNone/>
            </a:pPr>
            <a:r>
              <a:rPr lang="en-US" sz="1800" b="1" dirty="0">
                <a:solidFill>
                  <a:srgbClr val="006D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Identity Provider (IdP)</a:t>
            </a:r>
            <a:endParaRPr lang="en-US" sz="1800" dirty="0"/>
          </a:p>
        </p:txBody>
      </p:sp>
      <p:sp>
        <p:nvSpPr>
          <p:cNvPr id="24" name="Text 7"/>
          <p:cNvSpPr/>
          <p:nvPr/>
        </p:nvSpPr>
        <p:spPr>
          <a:xfrm>
            <a:off x="1794617" y="4554892"/>
            <a:ext cx="3916712" cy="835969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94"/>
              </a:lnSpc>
              <a:buNone/>
            </a:pPr>
            <a:r>
              <a:rPr lang="en-US" sz="13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central authority (e.g., Azure Entra ID) responsible for verifying identity and issuing secure tokens.</a:t>
            </a:r>
            <a:endParaRPr lang="en-US" sz="1350" dirty="0"/>
          </a:p>
        </p:txBody>
      </p:sp>
      <p:sp>
        <p:nvSpPr>
          <p:cNvPr id="25" name="Text 8"/>
          <p:cNvSpPr/>
          <p:nvPr/>
        </p:nvSpPr>
        <p:spPr>
          <a:xfrm>
            <a:off x="7337699" y="4202378"/>
            <a:ext cx="3956895" cy="256374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019"/>
              </a:lnSpc>
              <a:buNone/>
            </a:pPr>
            <a:r>
              <a:rPr lang="en-US" sz="1800" b="1" dirty="0">
                <a:solidFill>
                  <a:srgbClr val="006D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Tokens</a:t>
            </a:r>
            <a:endParaRPr lang="en-US" sz="1800" dirty="0"/>
          </a:p>
        </p:txBody>
      </p:sp>
      <p:sp>
        <p:nvSpPr>
          <p:cNvPr id="26" name="Text 9"/>
          <p:cNvSpPr/>
          <p:nvPr/>
        </p:nvSpPr>
        <p:spPr>
          <a:xfrm>
            <a:off x="7337699" y="4554892"/>
            <a:ext cx="3956895" cy="835969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94"/>
              </a:lnSpc>
              <a:buNone/>
            </a:pPr>
            <a:r>
              <a:rPr lang="en-US" sz="13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Digitally signed artifacts (ID &amp; Access Tokens) that securely convey identity and permissions between parties.</a:t>
            </a:r>
            <a:endParaRPr lang="en-US" sz="1350" dirty="0"/>
          </a:p>
        </p:txBody>
      </p:sp>
      <p:sp>
        <p:nvSpPr>
          <p:cNvPr id="27" name="Text 10"/>
          <p:cNvSpPr/>
          <p:nvPr/>
        </p:nvSpPr>
        <p:spPr>
          <a:xfrm>
            <a:off x="-450069" y="6233089"/>
            <a:ext cx="13092041" cy="224327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lnSpc>
                <a:spcPts val="1766"/>
              </a:lnSpc>
              <a:buNone/>
            </a:pPr>
            <a:r>
              <a:rPr lang="en-US" sz="1350" dirty="0">
                <a:solidFill>
                  <a:srgbClr val="083D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Centralization reduces the attack surface and simplifies compliance across all integrated applications.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883" y="443883"/>
            <a:ext cx="739806" cy="44388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3883" y="1714847"/>
            <a:ext cx="11304233" cy="828583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437" y="1900492"/>
            <a:ext cx="458680" cy="457177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66951" y="1995973"/>
            <a:ext cx="1368641" cy="266330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053961" y="1995973"/>
            <a:ext cx="1516602" cy="266330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3883" y="2780167"/>
            <a:ext cx="5563339" cy="1168893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1437" y="2987313"/>
            <a:ext cx="355107" cy="285750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184777" y="2780167"/>
            <a:ext cx="5563340" cy="1168893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362330" y="2987313"/>
            <a:ext cx="355107" cy="285750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43883" y="4126614"/>
            <a:ext cx="5563339" cy="1168893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21437" y="4333759"/>
            <a:ext cx="318117" cy="285750"/>
          </a:xfrm>
          <a:prstGeom prst="rect">
            <a:avLst/>
          </a:prstGeom>
        </p:spPr>
      </p:pic>
      <p:pic>
        <p:nvPicPr>
          <p:cNvPr id="14" name="Image 12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184777" y="4126614"/>
            <a:ext cx="5563340" cy="1168893"/>
          </a:xfrm>
          <a:prstGeom prst="rect">
            <a:avLst/>
          </a:prstGeom>
        </p:spPr>
      </p:pic>
      <p:pic>
        <p:nvPicPr>
          <p:cNvPr id="15" name="Image 13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362330" y="4333759"/>
            <a:ext cx="288524" cy="285750"/>
          </a:xfrm>
          <a:prstGeom prst="rect">
            <a:avLst/>
          </a:prstGeom>
        </p:spPr>
      </p:pic>
      <p:pic>
        <p:nvPicPr>
          <p:cNvPr id="16" name="Image 14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43883" y="6088602"/>
            <a:ext cx="11304233" cy="325514"/>
          </a:xfrm>
          <a:prstGeom prst="rect">
            <a:avLst/>
          </a:prstGeom>
        </p:spPr>
      </p:pic>
      <p:pic>
        <p:nvPicPr>
          <p:cNvPr id="17" name="Image 15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43883" y="6221767"/>
            <a:ext cx="170155" cy="171427"/>
          </a:xfrm>
          <a:prstGeom prst="rect">
            <a:avLst/>
          </a:prstGeom>
        </p:spPr>
      </p:pic>
      <p:sp>
        <p:nvSpPr>
          <p:cNvPr id="18" name="Text 0"/>
          <p:cNvSpPr/>
          <p:nvPr/>
        </p:nvSpPr>
        <p:spPr>
          <a:xfrm>
            <a:off x="443883" y="665825"/>
            <a:ext cx="13565080" cy="457177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006D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Role of the Identity Provider (IdP)</a:t>
            </a:r>
            <a:endParaRPr lang="en-US" sz="3600" dirty="0"/>
          </a:p>
        </p:txBody>
      </p:sp>
      <p:sp>
        <p:nvSpPr>
          <p:cNvPr id="19" name="Text 1"/>
          <p:cNvSpPr/>
          <p:nvPr/>
        </p:nvSpPr>
        <p:spPr>
          <a:xfrm>
            <a:off x="443883" y="1182187"/>
            <a:ext cx="13565080" cy="236738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64"/>
              </a:lnSpc>
              <a:buNone/>
            </a:pPr>
            <a:r>
              <a:rPr lang="en-US" sz="1800" dirty="0">
                <a:solidFill>
                  <a:srgbClr val="083D77">
                    <a:alpha val="8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Central Authority in SSO Ecosystems</a:t>
            </a:r>
            <a:endParaRPr lang="en-US" sz="1800" dirty="0"/>
          </a:p>
        </p:txBody>
      </p:sp>
      <p:sp>
        <p:nvSpPr>
          <p:cNvPr id="20" name="Text 2"/>
          <p:cNvSpPr/>
          <p:nvPr/>
        </p:nvSpPr>
        <p:spPr>
          <a:xfrm>
            <a:off x="1257670" y="1892400"/>
            <a:ext cx="6525087" cy="26633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097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Azure Entra ID / B2C</a:t>
            </a:r>
            <a:endParaRPr lang="en-US" sz="2250" dirty="0"/>
          </a:p>
        </p:txBody>
      </p:sp>
      <p:sp>
        <p:nvSpPr>
          <p:cNvPr id="21" name="Text 3"/>
          <p:cNvSpPr/>
          <p:nvPr/>
        </p:nvSpPr>
        <p:spPr>
          <a:xfrm>
            <a:off x="1257670" y="2158730"/>
            <a:ext cx="6525087" cy="207146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631"/>
              </a:lnSpc>
              <a:buNone/>
            </a:pPr>
            <a:r>
              <a:rPr lang="en-US" sz="1350" i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"Single Source of Truth" for authentication and authorization.</a:t>
            </a:r>
            <a:endParaRPr lang="en-US" sz="1350" dirty="0"/>
          </a:p>
        </p:txBody>
      </p:sp>
      <p:sp>
        <p:nvSpPr>
          <p:cNvPr id="22" name="Text 4"/>
          <p:cNvSpPr/>
          <p:nvPr/>
        </p:nvSpPr>
        <p:spPr>
          <a:xfrm>
            <a:off x="8685320" y="1995973"/>
            <a:ext cx="1642370" cy="26633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165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Trusted Authority</a:t>
            </a:r>
            <a:endParaRPr lang="en-US" sz="1050" dirty="0"/>
          </a:p>
        </p:txBody>
      </p:sp>
      <p:sp>
        <p:nvSpPr>
          <p:cNvPr id="23" name="Text 5"/>
          <p:cNvSpPr/>
          <p:nvPr/>
        </p:nvSpPr>
        <p:spPr>
          <a:xfrm>
            <a:off x="10172330" y="1995973"/>
            <a:ext cx="1819922" cy="26633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165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Policy Enforcement</a:t>
            </a:r>
            <a:endParaRPr lang="en-US" sz="1050" dirty="0"/>
          </a:p>
        </p:txBody>
      </p:sp>
      <p:sp>
        <p:nvSpPr>
          <p:cNvPr id="24" name="Text 6"/>
          <p:cNvSpPr/>
          <p:nvPr/>
        </p:nvSpPr>
        <p:spPr>
          <a:xfrm>
            <a:off x="1124505" y="2957721"/>
            <a:ext cx="5646198" cy="207145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631"/>
              </a:lnSpc>
              <a:buNone/>
            </a:pPr>
            <a:r>
              <a:rPr lang="en-US" sz="1500" b="1" dirty="0">
                <a:solidFill>
                  <a:srgbClr val="083D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User Identity Management</a:t>
            </a:r>
            <a:endParaRPr lang="en-US" sz="1500" dirty="0"/>
          </a:p>
        </p:txBody>
      </p:sp>
      <p:sp>
        <p:nvSpPr>
          <p:cNvPr id="25" name="Text 7"/>
          <p:cNvSpPr/>
          <p:nvPr/>
        </p:nvSpPr>
        <p:spPr>
          <a:xfrm>
            <a:off x="1124505" y="3224051"/>
            <a:ext cx="4705165" cy="418915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65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Centralized user pool management, supporting full identity lifecycle from creation to deactivation.</a:t>
            </a:r>
            <a:endParaRPr lang="en-US" sz="1200" dirty="0"/>
          </a:p>
        </p:txBody>
      </p:sp>
      <p:sp>
        <p:nvSpPr>
          <p:cNvPr id="26" name="Text 8"/>
          <p:cNvSpPr/>
          <p:nvPr/>
        </p:nvSpPr>
        <p:spPr>
          <a:xfrm>
            <a:off x="6865398" y="2957721"/>
            <a:ext cx="5646197" cy="207145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631"/>
              </a:lnSpc>
              <a:buNone/>
            </a:pPr>
            <a:r>
              <a:rPr lang="en-US" sz="1500" b="1" dirty="0">
                <a:solidFill>
                  <a:srgbClr val="083D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Secure Authentication</a:t>
            </a:r>
            <a:endParaRPr lang="en-US" sz="1500" dirty="0"/>
          </a:p>
        </p:txBody>
      </p:sp>
      <p:sp>
        <p:nvSpPr>
          <p:cNvPr id="27" name="Text 9"/>
          <p:cNvSpPr/>
          <p:nvPr/>
        </p:nvSpPr>
        <p:spPr>
          <a:xfrm>
            <a:off x="6865398" y="3224051"/>
            <a:ext cx="4705165" cy="418915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65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Provides MFA, passwordless login (FIDO2), and biometric options to verify identities securely.</a:t>
            </a:r>
            <a:endParaRPr lang="en-US" sz="1200" dirty="0"/>
          </a:p>
        </p:txBody>
      </p:sp>
      <p:sp>
        <p:nvSpPr>
          <p:cNvPr id="28" name="Text 10"/>
          <p:cNvSpPr/>
          <p:nvPr/>
        </p:nvSpPr>
        <p:spPr>
          <a:xfrm>
            <a:off x="1087515" y="4304167"/>
            <a:ext cx="4742155" cy="207146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631"/>
              </a:lnSpc>
              <a:buNone/>
            </a:pPr>
            <a:r>
              <a:rPr lang="en-US" sz="1500" b="1" dirty="0">
                <a:solidFill>
                  <a:srgbClr val="083D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Token Issuance</a:t>
            </a:r>
            <a:endParaRPr lang="en-US" sz="1500" dirty="0"/>
          </a:p>
        </p:txBody>
      </p:sp>
      <p:sp>
        <p:nvSpPr>
          <p:cNvPr id="29" name="Text 11"/>
          <p:cNvSpPr/>
          <p:nvPr/>
        </p:nvSpPr>
        <p:spPr>
          <a:xfrm>
            <a:off x="1087515" y="4570497"/>
            <a:ext cx="4742155" cy="418915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65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Generates signed JWTs (ID and Access Tokens) used by applications to verify identity and permissions.</a:t>
            </a:r>
            <a:endParaRPr lang="en-US" sz="1200" dirty="0"/>
          </a:p>
        </p:txBody>
      </p:sp>
      <p:sp>
        <p:nvSpPr>
          <p:cNvPr id="30" name="Text 12"/>
          <p:cNvSpPr/>
          <p:nvPr/>
        </p:nvSpPr>
        <p:spPr>
          <a:xfrm>
            <a:off x="6798815" y="4304167"/>
            <a:ext cx="5726097" cy="207146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631"/>
              </a:lnSpc>
              <a:buNone/>
            </a:pPr>
            <a:r>
              <a:rPr lang="en-US" sz="1500" b="1" dirty="0">
                <a:solidFill>
                  <a:srgbClr val="083D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Policy Enforcement</a:t>
            </a:r>
            <a:endParaRPr lang="en-US" sz="1500" dirty="0"/>
          </a:p>
        </p:txBody>
      </p:sp>
      <p:sp>
        <p:nvSpPr>
          <p:cNvPr id="31" name="Text 13"/>
          <p:cNvSpPr/>
          <p:nvPr/>
        </p:nvSpPr>
        <p:spPr>
          <a:xfrm>
            <a:off x="6798815" y="4570497"/>
            <a:ext cx="4771747" cy="418915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65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Integrates Conditional Access to assess risk dynamically based on location, device, and behavior.</a:t>
            </a:r>
            <a:endParaRPr lang="en-US" sz="1200" dirty="0"/>
          </a:p>
        </p:txBody>
      </p:sp>
      <p:sp>
        <p:nvSpPr>
          <p:cNvPr id="32" name="Text 14"/>
          <p:cNvSpPr/>
          <p:nvPr/>
        </p:nvSpPr>
        <p:spPr>
          <a:xfrm>
            <a:off x="673223" y="6206971"/>
            <a:ext cx="13565080" cy="207145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631"/>
              </a:lnSpc>
              <a:buNone/>
            </a:pPr>
            <a:r>
              <a:rPr lang="en-US" sz="1350" dirty="0">
                <a:solidFill>
                  <a:srgbClr val="083D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By centralizing these functions, the IdP eliminates the need for applications to manage their own user databases or session states.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750" y="476250"/>
            <a:ext cx="571500" cy="47625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50" y="1933575"/>
            <a:ext cx="5238750" cy="4448175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38725" y="2238375"/>
            <a:ext cx="561975" cy="609600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91125" y="2390775"/>
            <a:ext cx="257175" cy="304800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71550" y="3638550"/>
            <a:ext cx="4629150" cy="1028700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71550" y="4819650"/>
            <a:ext cx="4629150" cy="800100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23950" y="5238750"/>
            <a:ext cx="358229" cy="228600"/>
          </a:xfrm>
          <a:prstGeom prst="rect">
            <a:avLst/>
          </a:prstGeom>
        </p:spPr>
      </p:pic>
      <p:sp>
        <p:nvSpPr>
          <p:cNvPr id="10" name="Text 0"/>
          <p:cNvSpPr/>
          <p:nvPr/>
        </p:nvSpPr>
        <p:spPr>
          <a:xfrm>
            <a:off x="666750" y="714375"/>
            <a:ext cx="1303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006D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Understanding SSO Tokens</a:t>
            </a:r>
            <a:endParaRPr lang="en-US" sz="3600" dirty="0"/>
          </a:p>
        </p:txBody>
      </p:sp>
      <p:sp>
        <p:nvSpPr>
          <p:cNvPr id="11" name="Text 1"/>
          <p:cNvSpPr/>
          <p:nvPr/>
        </p:nvSpPr>
        <p:spPr>
          <a:xfrm>
            <a:off x="666750" y="1285875"/>
            <a:ext cx="130302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Secure, digitally signed artifacts issued by the Identity Provider (IdP).</a:t>
            </a:r>
            <a:endParaRPr lang="en-US" sz="1500" dirty="0"/>
          </a:p>
        </p:txBody>
      </p:sp>
      <p:sp>
        <p:nvSpPr>
          <p:cNvPr id="12" name="Text 2"/>
          <p:cNvSpPr/>
          <p:nvPr/>
        </p:nvSpPr>
        <p:spPr>
          <a:xfrm>
            <a:off x="1085850" y="2247900"/>
            <a:ext cx="1604843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350"/>
              </a:lnSpc>
              <a:buNone/>
            </a:pPr>
            <a:r>
              <a:rPr lang="en-US" sz="900" b="1" spc="36" kern="0" dirty="0">
                <a:solidFill>
                  <a:srgbClr val="006D77"/>
                </a:solidFill>
                <a:highlight>
                  <a:srgbClr val="006D77"/>
                </a:highlight>
                <a:latin typeface="Inter" pitchFamily="34" charset="0"/>
                <a:ea typeface="Inter" pitchFamily="34" charset="-122"/>
                <a:cs typeface="Inter" pitchFamily="34" charset="-120"/>
              </a:rPr>
              <a:t>AUTHENTICATION</a:t>
            </a:r>
            <a:endParaRPr lang="en-US" sz="900" dirty="0"/>
          </a:p>
        </p:txBody>
      </p:sp>
      <p:sp>
        <p:nvSpPr>
          <p:cNvPr id="13" name="Text 3"/>
          <p:cNvSpPr/>
          <p:nvPr/>
        </p:nvSpPr>
        <p:spPr>
          <a:xfrm>
            <a:off x="971550" y="2571750"/>
            <a:ext cx="160484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083D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 Token</a:t>
            </a:r>
            <a:endParaRPr lang="en-US" sz="2250" dirty="0"/>
          </a:p>
        </p:txBody>
      </p:sp>
      <p:sp>
        <p:nvSpPr>
          <p:cNvPr id="14" name="Text 4"/>
          <p:cNvSpPr/>
          <p:nvPr/>
        </p:nvSpPr>
        <p:spPr>
          <a:xfrm>
            <a:off x="971550" y="3143250"/>
            <a:ext cx="46291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i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"Who is the user?"</a:t>
            </a:r>
            <a:endParaRPr lang="en-US" sz="1350" dirty="0"/>
          </a:p>
        </p:txBody>
      </p:sp>
      <p:sp>
        <p:nvSpPr>
          <p:cNvPr id="15" name="Text 5"/>
          <p:cNvSpPr/>
          <p:nvPr/>
        </p:nvSpPr>
        <p:spPr>
          <a:xfrm>
            <a:off x="1123950" y="3790950"/>
            <a:ext cx="43243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006D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PRIMARY PURPOSE</a:t>
            </a:r>
            <a:endParaRPr lang="en-US" sz="1050" dirty="0"/>
          </a:p>
        </p:txBody>
      </p:sp>
      <p:sp>
        <p:nvSpPr>
          <p:cNvPr id="16" name="Text 6"/>
          <p:cNvSpPr/>
          <p:nvPr/>
        </p:nvSpPr>
        <p:spPr>
          <a:xfrm>
            <a:off x="1123950" y="4057650"/>
            <a:ext cx="43243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83D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Proves to the application that the user has successfully logged in.</a:t>
            </a:r>
            <a:endParaRPr lang="en-US" sz="1200" dirty="0"/>
          </a:p>
        </p:txBody>
      </p:sp>
      <p:sp>
        <p:nvSpPr>
          <p:cNvPr id="17" name="Text 7"/>
          <p:cNvSpPr/>
          <p:nvPr/>
        </p:nvSpPr>
        <p:spPr>
          <a:xfrm>
            <a:off x="1123950" y="4972050"/>
            <a:ext cx="43243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CLAIMS (JWT)</a:t>
            </a:r>
            <a:endParaRPr lang="en-US" sz="1050" dirty="0"/>
          </a:p>
        </p:txBody>
      </p:sp>
      <p:sp>
        <p:nvSpPr>
          <p:cNvPr id="18" name="Text 8"/>
          <p:cNvSpPr/>
          <p:nvPr/>
        </p:nvSpPr>
        <p:spPr>
          <a:xfrm>
            <a:off x="1200150" y="5286375"/>
            <a:ext cx="24699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E29578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sub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485900"/>
            <a:ext cx="2087910" cy="161925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62980" y="1676400"/>
            <a:ext cx="304800" cy="30480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11810" y="1485900"/>
            <a:ext cx="2087910" cy="1619250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65190" y="1676400"/>
            <a:ext cx="381000" cy="304800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52120" y="1485900"/>
            <a:ext cx="2087910" cy="1619250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81700" y="1676400"/>
            <a:ext cx="228600" cy="304800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292429" y="1485900"/>
            <a:ext cx="2087910" cy="1619250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183910" y="1676400"/>
            <a:ext cx="304800" cy="304800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532739" y="1485900"/>
            <a:ext cx="2087910" cy="1619250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405170" y="1676400"/>
            <a:ext cx="342900" cy="304800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71500" y="3638550"/>
            <a:ext cx="5372100" cy="2286000"/>
          </a:xfrm>
          <a:prstGeom prst="rect">
            <a:avLst/>
          </a:prstGeom>
        </p:spPr>
      </p:pic>
      <p:pic>
        <p:nvPicPr>
          <p:cNvPr id="14" name="Image 12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76300" y="3943350"/>
            <a:ext cx="228600" cy="304800"/>
          </a:xfrm>
          <a:prstGeom prst="rect">
            <a:avLst/>
          </a:prstGeom>
        </p:spPr>
      </p:pic>
      <p:pic>
        <p:nvPicPr>
          <p:cNvPr id="15" name="Image 13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248400" y="3638550"/>
            <a:ext cx="5372100" cy="2286000"/>
          </a:xfrm>
          <a:prstGeom prst="rect">
            <a:avLst/>
          </a:prstGeom>
        </p:spPr>
      </p:pic>
      <p:pic>
        <p:nvPicPr>
          <p:cNvPr id="16" name="Image 14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553200" y="3981450"/>
            <a:ext cx="228600" cy="228600"/>
          </a:xfrm>
          <a:prstGeom prst="rect">
            <a:avLst/>
          </a:prstGeom>
        </p:spPr>
      </p:pic>
      <p:pic>
        <p:nvPicPr>
          <p:cNvPr id="17" name="Image 15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553200" y="4438650"/>
            <a:ext cx="133350" cy="152400"/>
          </a:xfrm>
          <a:prstGeom prst="rect">
            <a:avLst/>
          </a:prstGeom>
        </p:spPr>
      </p:pic>
      <p:pic>
        <p:nvPicPr>
          <p:cNvPr id="18" name="Image 16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553200" y="5048250"/>
            <a:ext cx="133350" cy="152400"/>
          </a:xfrm>
          <a:prstGeom prst="rect">
            <a:avLst/>
          </a:prstGeom>
        </p:spPr>
      </p:pic>
      <p:pic>
        <p:nvPicPr>
          <p:cNvPr id="19" name="Image 17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553200" y="5429250"/>
            <a:ext cx="133350" cy="152400"/>
          </a:xfrm>
          <a:prstGeom prst="rect">
            <a:avLst/>
          </a:prstGeom>
        </p:spPr>
      </p:pic>
      <p:pic>
        <p:nvPicPr>
          <p:cNvPr id="20" name="Image 18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571500" y="6134100"/>
            <a:ext cx="11049000" cy="342900"/>
          </a:xfrm>
          <a:prstGeom prst="rect">
            <a:avLst/>
          </a:prstGeom>
        </p:spPr>
      </p:pic>
      <p:sp>
        <p:nvSpPr>
          <p:cNvPr id="21" name="Text 0"/>
          <p:cNvSpPr/>
          <p:nvPr/>
        </p:nvSpPr>
        <p:spPr>
          <a:xfrm>
            <a:off x="571500" y="381000"/>
            <a:ext cx="11049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006D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Authorization Code Flow</a:t>
            </a:r>
            <a:endParaRPr lang="en-US" sz="2700" dirty="0"/>
          </a:p>
        </p:txBody>
      </p:sp>
      <p:sp>
        <p:nvSpPr>
          <p:cNvPr id="22" name="Text 1"/>
          <p:cNvSpPr/>
          <p:nvPr/>
        </p:nvSpPr>
        <p:spPr>
          <a:xfrm>
            <a:off x="571500" y="838200"/>
            <a:ext cx="11049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spc="30" kern="0" dirty="0">
                <a:solidFill>
                  <a:srgbClr val="083D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GOLD STANDARD FOR WEB &amp; MOBILE APPLICATIONS</a:t>
            </a:r>
            <a:endParaRPr lang="en-US" sz="1500" dirty="0"/>
          </a:p>
        </p:txBody>
      </p:sp>
      <p:sp>
        <p:nvSpPr>
          <p:cNvPr id="23" name="Text 2"/>
          <p:cNvSpPr/>
          <p:nvPr/>
        </p:nvSpPr>
        <p:spPr>
          <a:xfrm>
            <a:off x="1392495" y="2152650"/>
            <a:ext cx="44577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00" b="1" dirty="0">
                <a:solidFill>
                  <a:srgbClr val="E295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STEP 1</a:t>
            </a:r>
            <a:endParaRPr lang="en-US" sz="900" dirty="0"/>
          </a:p>
        </p:txBody>
      </p:sp>
      <p:sp>
        <p:nvSpPr>
          <p:cNvPr id="24" name="Text 3"/>
          <p:cNvSpPr/>
          <p:nvPr/>
        </p:nvSpPr>
        <p:spPr>
          <a:xfrm>
            <a:off x="746700" y="2343150"/>
            <a:ext cx="173736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083D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User Requests Access</a:t>
            </a:r>
            <a:endParaRPr lang="en-US" sz="1050" dirty="0"/>
          </a:p>
        </p:txBody>
      </p:sp>
      <p:sp>
        <p:nvSpPr>
          <p:cNvPr id="25" name="Text 4"/>
          <p:cNvSpPr/>
          <p:nvPr/>
        </p:nvSpPr>
        <p:spPr>
          <a:xfrm>
            <a:off x="762000" y="2609850"/>
            <a:ext cx="170691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083D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 redirects user to Identity Provider (IdP)</a:t>
            </a:r>
            <a:endParaRPr lang="en-US" sz="900" dirty="0"/>
          </a:p>
        </p:txBody>
      </p:sp>
      <p:sp>
        <p:nvSpPr>
          <p:cNvPr id="26" name="Text 5"/>
          <p:cNvSpPr/>
          <p:nvPr/>
        </p:nvSpPr>
        <p:spPr>
          <a:xfrm>
            <a:off x="3615660" y="2152650"/>
            <a:ext cx="48006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00" b="1" dirty="0">
                <a:solidFill>
                  <a:srgbClr val="E295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STEP 2</a:t>
            </a:r>
            <a:endParaRPr lang="en-US" sz="900" dirty="0"/>
          </a:p>
        </p:txBody>
      </p:sp>
      <p:sp>
        <p:nvSpPr>
          <p:cNvPr id="27" name="Text 6"/>
          <p:cNvSpPr/>
          <p:nvPr/>
        </p:nvSpPr>
        <p:spPr>
          <a:xfrm>
            <a:off x="3107025" y="2343150"/>
            <a:ext cx="149733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083D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User Authenticates</a:t>
            </a:r>
            <a:endParaRPr lang="en-US" sz="1050" dirty="0"/>
          </a:p>
        </p:txBody>
      </p:sp>
      <p:sp>
        <p:nvSpPr>
          <p:cNvPr id="28" name="Text 7"/>
          <p:cNvSpPr/>
          <p:nvPr/>
        </p:nvSpPr>
        <p:spPr>
          <a:xfrm>
            <a:off x="3002310" y="2609850"/>
            <a:ext cx="170691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083D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User logs in via MFA, FIDO2, or Passwords</a:t>
            </a:r>
            <a:endParaRPr lang="en-US" sz="900" dirty="0"/>
          </a:p>
        </p:txBody>
      </p:sp>
      <p:sp>
        <p:nvSpPr>
          <p:cNvPr id="29" name="Text 8"/>
          <p:cNvSpPr/>
          <p:nvPr/>
        </p:nvSpPr>
        <p:spPr>
          <a:xfrm>
            <a:off x="5855970" y="2152650"/>
            <a:ext cx="48006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00" b="1" dirty="0">
                <a:solidFill>
                  <a:srgbClr val="E295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STEP 3</a:t>
            </a:r>
            <a:endParaRPr lang="en-US" sz="900" dirty="0"/>
          </a:p>
        </p:txBody>
      </p:sp>
      <p:sp>
        <p:nvSpPr>
          <p:cNvPr id="30" name="Text 9"/>
          <p:cNvSpPr/>
          <p:nvPr/>
        </p:nvSpPr>
        <p:spPr>
          <a:xfrm>
            <a:off x="5404485" y="2343150"/>
            <a:ext cx="138303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083D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Auth Code Issued</a:t>
            </a:r>
            <a:endParaRPr lang="en-US" sz="1050" dirty="0"/>
          </a:p>
        </p:txBody>
      </p:sp>
      <p:sp>
        <p:nvSpPr>
          <p:cNvPr id="31" name="Text 10"/>
          <p:cNvSpPr/>
          <p:nvPr/>
        </p:nvSpPr>
        <p:spPr>
          <a:xfrm>
            <a:off x="5242620" y="2609850"/>
            <a:ext cx="170691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083D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IdP redirects back with a short-lived code</a:t>
            </a:r>
            <a:endParaRPr lang="en-US" sz="900" dirty="0"/>
          </a:p>
        </p:txBody>
      </p:sp>
      <p:sp>
        <p:nvSpPr>
          <p:cNvPr id="32" name="Text 11"/>
          <p:cNvSpPr/>
          <p:nvPr/>
        </p:nvSpPr>
        <p:spPr>
          <a:xfrm>
            <a:off x="8096280" y="2152650"/>
            <a:ext cx="48006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00" b="1" dirty="0">
                <a:solidFill>
                  <a:srgbClr val="E295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STEP 4</a:t>
            </a:r>
            <a:endParaRPr lang="en-US" sz="900" dirty="0"/>
          </a:p>
        </p:txBody>
      </p:sp>
      <p:sp>
        <p:nvSpPr>
          <p:cNvPr id="33" name="Text 12"/>
          <p:cNvSpPr/>
          <p:nvPr/>
        </p:nvSpPr>
        <p:spPr>
          <a:xfrm>
            <a:off x="7724805" y="2343150"/>
            <a:ext cx="122301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083D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Code Exchange</a:t>
            </a:r>
            <a:endParaRPr lang="en-US" sz="1050" dirty="0"/>
          </a:p>
        </p:txBody>
      </p:sp>
      <p:sp>
        <p:nvSpPr>
          <p:cNvPr id="34" name="Text 13"/>
          <p:cNvSpPr/>
          <p:nvPr/>
        </p:nvSpPr>
        <p:spPr>
          <a:xfrm>
            <a:off x="7482929" y="2609850"/>
            <a:ext cx="170691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083D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 exchanges code for tokens via secure channel</a:t>
            </a:r>
            <a:endParaRPr lang="en-US" sz="900" dirty="0"/>
          </a:p>
        </p:txBody>
      </p:sp>
      <p:sp>
        <p:nvSpPr>
          <p:cNvPr id="35" name="Text 14"/>
          <p:cNvSpPr/>
          <p:nvPr/>
        </p:nvSpPr>
        <p:spPr>
          <a:xfrm>
            <a:off x="10342305" y="2152650"/>
            <a:ext cx="46863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00" b="1" dirty="0">
                <a:solidFill>
                  <a:srgbClr val="E295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STEP 5</a:t>
            </a:r>
            <a:endParaRPr lang="en-US" sz="900" dirty="0"/>
          </a:p>
        </p:txBody>
      </p:sp>
      <p:sp>
        <p:nvSpPr>
          <p:cNvPr id="36" name="Text 15"/>
          <p:cNvSpPr/>
          <p:nvPr/>
        </p:nvSpPr>
        <p:spPr>
          <a:xfrm>
            <a:off x="9919395" y="2343150"/>
            <a:ext cx="13144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083D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Tokens Received</a:t>
            </a:r>
            <a:endParaRPr lang="en-US" sz="1050" dirty="0"/>
          </a:p>
        </p:txBody>
      </p:sp>
      <p:sp>
        <p:nvSpPr>
          <p:cNvPr id="37" name="Text 16"/>
          <p:cNvSpPr/>
          <p:nvPr/>
        </p:nvSpPr>
        <p:spPr>
          <a:xfrm>
            <a:off x="9723239" y="2609850"/>
            <a:ext cx="170691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083D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 Token and Access Token are issued</a:t>
            </a:r>
            <a:endParaRPr lang="en-US" sz="900" dirty="0"/>
          </a:p>
        </p:txBody>
      </p:sp>
      <p:sp>
        <p:nvSpPr>
          <p:cNvPr id="38" name="Text 17"/>
          <p:cNvSpPr/>
          <p:nvPr/>
        </p:nvSpPr>
        <p:spPr>
          <a:xfrm>
            <a:off x="1257300" y="3943350"/>
            <a:ext cx="23431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083D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Role of PKCE</a:t>
            </a:r>
            <a:endParaRPr lang="en-US" sz="1800" dirty="0"/>
          </a:p>
        </p:txBody>
      </p:sp>
      <p:sp>
        <p:nvSpPr>
          <p:cNvPr id="39" name="Text 18"/>
          <p:cNvSpPr/>
          <p:nvPr/>
        </p:nvSpPr>
        <p:spPr>
          <a:xfrm>
            <a:off x="876300" y="4400550"/>
            <a:ext cx="4762500" cy="1114425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94"/>
              </a:lnSpc>
              <a:buNone/>
            </a:pPr>
            <a:r>
              <a:rPr lang="en-US" sz="1350" b="1" dirty="0">
                <a:solidFill>
                  <a:srgbClr val="083D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Proof Key for Code Exchange</a:t>
            </a:r>
            <a:pPr indent="0" marL="0">
              <a:lnSpc>
                <a:spcPts val="2194"/>
              </a:lnSpc>
              <a:buNone/>
            </a:pPr>
            <a:r>
              <a:rPr lang="en-US" sz="1350" dirty="0">
                <a:solidFill>
                  <a:srgbClr val="083D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is essential for public clients. It prevents interception attacks by requiring a </a:t>
            </a:r>
            <a:pPr indent="0" marL="0">
              <a:lnSpc>
                <a:spcPts val="2194"/>
              </a:lnSpc>
              <a:buNone/>
            </a:pPr>
            <a:r>
              <a:rPr lang="en-US" sz="1350" b="1" dirty="0">
                <a:solidFill>
                  <a:srgbClr val="006D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code verifier</a:t>
            </a:r>
            <a:pPr indent="0" marL="0">
              <a:lnSpc>
                <a:spcPts val="2194"/>
              </a:lnSpc>
              <a:buNone/>
            </a:pPr>
            <a:r>
              <a:rPr lang="en-US" sz="1350" dirty="0">
                <a:solidFill>
                  <a:srgbClr val="083D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to be presented during the token exchange, ensuring only the original requester can receive tokens.</a:t>
            </a:r>
            <a:endParaRPr lang="en-US" sz="1350" dirty="0"/>
          </a:p>
        </p:txBody>
      </p:sp>
      <p:sp>
        <p:nvSpPr>
          <p:cNvPr id="40" name="Text 19"/>
          <p:cNvSpPr/>
          <p:nvPr/>
        </p:nvSpPr>
        <p:spPr>
          <a:xfrm>
            <a:off x="6934200" y="3943350"/>
            <a:ext cx="4762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Why It's Secure</a:t>
            </a:r>
            <a:endParaRPr lang="en-US" sz="1800" dirty="0"/>
          </a:p>
        </p:txBody>
      </p:sp>
      <p:sp>
        <p:nvSpPr>
          <p:cNvPr id="41" name="Text 20"/>
          <p:cNvSpPr/>
          <p:nvPr/>
        </p:nvSpPr>
        <p:spPr>
          <a:xfrm>
            <a:off x="6800850" y="4400550"/>
            <a:ext cx="45148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Access tokens are never exposed to the user's browser during the flow.</a:t>
            </a:r>
            <a:endParaRPr lang="en-US" sz="1200" dirty="0"/>
          </a:p>
        </p:txBody>
      </p:sp>
      <p:sp>
        <p:nvSpPr>
          <p:cNvPr id="42" name="Text 21"/>
          <p:cNvSpPr/>
          <p:nvPr/>
        </p:nvSpPr>
        <p:spPr>
          <a:xfrm>
            <a:off x="6800850" y="5010150"/>
            <a:ext cx="45948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Authorization Code is short-lived and single-use.</a:t>
            </a:r>
            <a:endParaRPr lang="en-US" sz="1200" dirty="0"/>
          </a:p>
        </p:txBody>
      </p:sp>
      <p:sp>
        <p:nvSpPr>
          <p:cNvPr id="43" name="Text 22"/>
          <p:cNvSpPr/>
          <p:nvPr/>
        </p:nvSpPr>
        <p:spPr>
          <a:xfrm>
            <a:off x="6800850" y="5391150"/>
            <a:ext cx="501777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Requires pre-registered Redirect URIs to prevent phishing.</a:t>
            </a:r>
            <a:endParaRPr lang="en-US" sz="1200" dirty="0"/>
          </a:p>
        </p:txBody>
      </p:sp>
      <p:sp>
        <p:nvSpPr>
          <p:cNvPr id="44" name="Text 23"/>
          <p:cNvSpPr/>
          <p:nvPr/>
        </p:nvSpPr>
        <p:spPr>
          <a:xfrm>
            <a:off x="-533400" y="6286500"/>
            <a:ext cx="13258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50" b="1" i="1" dirty="0">
                <a:solidFill>
                  <a:srgbClr val="083D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"Considered the most secure flow as the token exchange happens server-to-server, away from the user agent."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381000"/>
            <a:ext cx="571500" cy="5715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1885950"/>
            <a:ext cx="6318200" cy="15811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6300" y="2228850"/>
            <a:ext cx="219075" cy="190500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6300" y="2771775"/>
            <a:ext cx="304800" cy="304800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33500" y="2686050"/>
            <a:ext cx="5251400" cy="476250"/>
          </a:xfrm>
          <a:prstGeom prst="rect">
            <a:avLst/>
          </a:prstGeom>
        </p:spPr>
      </p:pic>
      <p:sp>
        <p:nvSpPr>
          <p:cNvPr id="8" name="Text 0"/>
          <p:cNvSpPr/>
          <p:nvPr/>
        </p:nvSpPr>
        <p:spPr>
          <a:xfrm>
            <a:off x="571500" y="590550"/>
            <a:ext cx="1325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006D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Client Credentials Flow</a:t>
            </a:r>
            <a:endParaRPr lang="en-US" sz="3600" dirty="0"/>
          </a:p>
        </p:txBody>
      </p:sp>
      <p:sp>
        <p:nvSpPr>
          <p:cNvPr id="9" name="Text 1"/>
          <p:cNvSpPr/>
          <p:nvPr/>
        </p:nvSpPr>
        <p:spPr>
          <a:xfrm>
            <a:off x="571500" y="1200150"/>
            <a:ext cx="13258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400"/>
              </a:lnSpc>
              <a:buNone/>
            </a:pPr>
            <a:r>
              <a:rPr lang="en-US" sz="1800" dirty="0">
                <a:solidFill>
                  <a:srgbClr val="083D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Secure Machine-to-Machine (M2M) Authentication</a:t>
            </a:r>
            <a:endParaRPr lang="en-US" sz="1800" dirty="0"/>
          </a:p>
        </p:txBody>
      </p:sp>
      <p:sp>
        <p:nvSpPr>
          <p:cNvPr id="10" name="Text 2"/>
          <p:cNvSpPr/>
          <p:nvPr/>
        </p:nvSpPr>
        <p:spPr>
          <a:xfrm>
            <a:off x="1171575" y="2190750"/>
            <a:ext cx="57086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83D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Authentication Process</a:t>
            </a:r>
            <a:endParaRPr lang="en-US" sz="1500" dirty="0"/>
          </a:p>
        </p:txBody>
      </p:sp>
      <p:sp>
        <p:nvSpPr>
          <p:cNvPr id="11" name="Text 3"/>
          <p:cNvSpPr/>
          <p:nvPr/>
        </p:nvSpPr>
        <p:spPr>
          <a:xfrm>
            <a:off x="995363" y="2771775"/>
            <a:ext cx="304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Text 4"/>
          <p:cNvSpPr/>
          <p:nvPr/>
        </p:nvSpPr>
        <p:spPr>
          <a:xfrm>
            <a:off x="1447800" y="2686050"/>
            <a:ext cx="52514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83D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Identity Request: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83D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Client sends 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669881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381000"/>
            <a:ext cx="762000" cy="381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1562100"/>
            <a:ext cx="2590800" cy="1754981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000" y="2209800"/>
            <a:ext cx="152400" cy="152400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90900" y="1562100"/>
            <a:ext cx="2590800" cy="1754981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81400" y="2209800"/>
            <a:ext cx="152400" cy="152400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10300" y="1562100"/>
            <a:ext cx="2590800" cy="1754981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00800" y="2209800"/>
            <a:ext cx="114300" cy="152400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029700" y="1562100"/>
            <a:ext cx="2590800" cy="1754981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220200" y="2209800"/>
            <a:ext cx="133350" cy="152400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71500" y="3698081"/>
            <a:ext cx="5334000" cy="2590800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744938" y="4345781"/>
            <a:ext cx="931962" cy="232321"/>
          </a:xfrm>
          <a:prstGeom prst="rect">
            <a:avLst/>
          </a:prstGeom>
        </p:spPr>
      </p:pic>
      <p:pic>
        <p:nvPicPr>
          <p:cNvPr id="14" name="Image 12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199186" y="4730502"/>
            <a:ext cx="1477714" cy="232321"/>
          </a:xfrm>
          <a:prstGeom prst="rect">
            <a:avLst/>
          </a:prstGeom>
        </p:spPr>
      </p:pic>
      <p:pic>
        <p:nvPicPr>
          <p:cNvPr id="15" name="Image 13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588966" y="5115223"/>
            <a:ext cx="1087934" cy="232321"/>
          </a:xfrm>
          <a:prstGeom prst="rect">
            <a:avLst/>
          </a:prstGeom>
        </p:spPr>
      </p:pic>
      <p:pic>
        <p:nvPicPr>
          <p:cNvPr id="16" name="Image 14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433143" y="5499943"/>
            <a:ext cx="1243757" cy="232321"/>
          </a:xfrm>
          <a:prstGeom prst="rect">
            <a:avLst/>
          </a:prstGeom>
        </p:spPr>
      </p:pic>
      <p:pic>
        <p:nvPicPr>
          <p:cNvPr id="17" name="Image 15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286500" y="4117181"/>
            <a:ext cx="5334000" cy="723900"/>
          </a:xfrm>
          <a:prstGeom prst="rect">
            <a:avLst/>
          </a:prstGeom>
        </p:spPr>
      </p:pic>
      <p:pic>
        <p:nvPicPr>
          <p:cNvPr id="18" name="Image 16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400800" y="4269581"/>
            <a:ext cx="152400" cy="152400"/>
          </a:xfrm>
          <a:prstGeom prst="rect">
            <a:avLst/>
          </a:prstGeom>
        </p:spPr>
      </p:pic>
      <p:pic>
        <p:nvPicPr>
          <p:cNvPr id="19" name="Image 17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286500" y="4993481"/>
            <a:ext cx="5334000" cy="571500"/>
          </a:xfrm>
          <a:prstGeom prst="rect">
            <a:avLst/>
          </a:prstGeom>
        </p:spPr>
      </p:pic>
      <p:pic>
        <p:nvPicPr>
          <p:cNvPr id="20" name="Image 18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400800" y="5145881"/>
            <a:ext cx="190500" cy="152400"/>
          </a:xfrm>
          <a:prstGeom prst="rect">
            <a:avLst/>
          </a:prstGeom>
        </p:spPr>
      </p:pic>
      <p:pic>
        <p:nvPicPr>
          <p:cNvPr id="21" name="Image 19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286500" y="5717381"/>
            <a:ext cx="5334000" cy="571500"/>
          </a:xfrm>
          <a:prstGeom prst="rect">
            <a:avLst/>
          </a:prstGeom>
        </p:spPr>
      </p:pic>
      <p:pic>
        <p:nvPicPr>
          <p:cNvPr id="22" name="Image 20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400800" y="5869781"/>
            <a:ext cx="152400" cy="152400"/>
          </a:xfrm>
          <a:prstGeom prst="rect">
            <a:avLst/>
          </a:prstGeom>
        </p:spPr>
      </p:pic>
      <p:sp>
        <p:nvSpPr>
          <p:cNvPr id="23" name="Text 0"/>
          <p:cNvSpPr/>
          <p:nvPr/>
        </p:nvSpPr>
        <p:spPr>
          <a:xfrm>
            <a:off x="571500" y="533400"/>
            <a:ext cx="11049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006D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On-Behalf-Of (OBO) Flow</a:t>
            </a:r>
            <a:endParaRPr lang="en-US" sz="2700" dirty="0"/>
          </a:p>
        </p:txBody>
      </p:sp>
      <p:sp>
        <p:nvSpPr>
          <p:cNvPr id="24" name="Text 1"/>
          <p:cNvSpPr/>
          <p:nvPr/>
        </p:nvSpPr>
        <p:spPr>
          <a:xfrm>
            <a:off x="571500" y="990600"/>
            <a:ext cx="11049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Preserving User Identity Across Service Chains</a:t>
            </a:r>
            <a:endParaRPr lang="en-US" sz="1500" dirty="0"/>
          </a:p>
        </p:txBody>
      </p:sp>
      <p:sp>
        <p:nvSpPr>
          <p:cNvPr id="25" name="Text 2"/>
          <p:cNvSpPr/>
          <p:nvPr/>
        </p:nvSpPr>
        <p:spPr>
          <a:xfrm>
            <a:off x="762000" y="1752600"/>
            <a:ext cx="22098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E295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2250" dirty="0"/>
          </a:p>
        </p:txBody>
      </p:sp>
      <p:sp>
        <p:nvSpPr>
          <p:cNvPr id="26" name="Text 3"/>
          <p:cNvSpPr/>
          <p:nvPr/>
        </p:nvSpPr>
        <p:spPr>
          <a:xfrm>
            <a:off x="990600" y="2171700"/>
            <a:ext cx="2209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83D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Initial Call</a:t>
            </a:r>
            <a:endParaRPr lang="en-US" sz="1200" dirty="0"/>
          </a:p>
        </p:txBody>
      </p:sp>
      <p:sp>
        <p:nvSpPr>
          <p:cNvPr id="27" name="Text 4"/>
          <p:cNvSpPr/>
          <p:nvPr/>
        </p:nvSpPr>
        <p:spPr>
          <a:xfrm>
            <a:off x="762000" y="2476500"/>
            <a:ext cx="2209800" cy="433388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706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User authenticates and calls </a:t>
            </a:r>
            <a:pPr indent="0" marL="0">
              <a:lnSpc>
                <a:spcPts val="1706"/>
              </a:lnSpc>
              <a:buNone/>
            </a:pPr>
            <a:r>
              <a:rPr lang="en-US" sz="1050" b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API A</a:t>
            </a:r>
            <a:pPr indent="0" marL="0">
              <a:lnSpc>
                <a:spcPts val="1706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using an access token.</a:t>
            </a:r>
            <a:endParaRPr lang="en-US" sz="1050" dirty="0"/>
          </a:p>
        </p:txBody>
      </p:sp>
      <p:sp>
        <p:nvSpPr>
          <p:cNvPr id="28" name="Text 5"/>
          <p:cNvSpPr/>
          <p:nvPr/>
        </p:nvSpPr>
        <p:spPr>
          <a:xfrm>
            <a:off x="3581400" y="1752600"/>
            <a:ext cx="22098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E295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2250" dirty="0"/>
          </a:p>
        </p:txBody>
      </p:sp>
      <p:sp>
        <p:nvSpPr>
          <p:cNvPr id="29" name="Text 6"/>
          <p:cNvSpPr/>
          <p:nvPr/>
        </p:nvSpPr>
        <p:spPr>
          <a:xfrm>
            <a:off x="3810000" y="217170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83D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Token Exchange</a:t>
            </a:r>
            <a:endParaRPr lang="en-US" sz="1200" dirty="0"/>
          </a:p>
        </p:txBody>
      </p:sp>
      <p:sp>
        <p:nvSpPr>
          <p:cNvPr id="30" name="Text 7"/>
          <p:cNvSpPr/>
          <p:nvPr/>
        </p:nvSpPr>
        <p:spPr>
          <a:xfrm>
            <a:off x="3581400" y="2476500"/>
            <a:ext cx="2209800" cy="650081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706"/>
              </a:lnSpc>
              <a:buNone/>
            </a:pPr>
            <a:r>
              <a:rPr lang="en-US" sz="1050" b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API A</a:t>
            </a:r>
            <a:pPr indent="0" marL="0">
              <a:lnSpc>
                <a:spcPts val="1706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requests a new token from the IdP using the original user token as assertion.</a:t>
            </a:r>
            <a:endParaRPr lang="en-US" sz="1050" dirty="0"/>
          </a:p>
        </p:txBody>
      </p:sp>
      <p:sp>
        <p:nvSpPr>
          <p:cNvPr id="31" name="Text 8"/>
          <p:cNvSpPr/>
          <p:nvPr/>
        </p:nvSpPr>
        <p:spPr>
          <a:xfrm>
            <a:off x="6400800" y="1752600"/>
            <a:ext cx="22098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E295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2250" dirty="0"/>
          </a:p>
        </p:txBody>
      </p:sp>
      <p:sp>
        <p:nvSpPr>
          <p:cNvPr id="32" name="Text 9"/>
          <p:cNvSpPr/>
          <p:nvPr/>
        </p:nvSpPr>
        <p:spPr>
          <a:xfrm>
            <a:off x="6591300" y="2171700"/>
            <a:ext cx="2209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83D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User Context</a:t>
            </a:r>
            <a:endParaRPr lang="en-US" sz="1200" dirty="0"/>
          </a:p>
        </p:txBody>
      </p:sp>
      <p:sp>
        <p:nvSpPr>
          <p:cNvPr id="33" name="Text 10"/>
          <p:cNvSpPr/>
          <p:nvPr/>
        </p:nvSpPr>
        <p:spPr>
          <a:xfrm>
            <a:off x="6400800" y="2476500"/>
            <a:ext cx="2209800" cy="650081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706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IdP issues a new token for </a:t>
            </a:r>
            <a:pPr indent="0" marL="0">
              <a:lnSpc>
                <a:spcPts val="1706"/>
              </a:lnSpc>
              <a:buNone/>
            </a:pPr>
            <a:r>
              <a:rPr lang="en-US" sz="1050" b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API B</a:t>
            </a:r>
            <a:pPr indent="0" marL="0">
              <a:lnSpc>
                <a:spcPts val="1706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maintaining the user's identity/scopes.</a:t>
            </a:r>
            <a:endParaRPr lang="en-US" sz="1050" dirty="0"/>
          </a:p>
        </p:txBody>
      </p:sp>
      <p:sp>
        <p:nvSpPr>
          <p:cNvPr id="34" name="Text 11"/>
          <p:cNvSpPr/>
          <p:nvPr/>
        </p:nvSpPr>
        <p:spPr>
          <a:xfrm>
            <a:off x="9220200" y="1752600"/>
            <a:ext cx="22098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E295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2250" dirty="0"/>
          </a:p>
        </p:txBody>
      </p:sp>
      <p:sp>
        <p:nvSpPr>
          <p:cNvPr id="35" name="Text 12"/>
          <p:cNvSpPr/>
          <p:nvPr/>
        </p:nvSpPr>
        <p:spPr>
          <a:xfrm>
            <a:off x="9429750" y="217170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83D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Downstream Call</a:t>
            </a:r>
            <a:endParaRPr lang="en-US" sz="1200" dirty="0"/>
          </a:p>
        </p:txBody>
      </p:sp>
      <p:sp>
        <p:nvSpPr>
          <p:cNvPr id="36" name="Text 13"/>
          <p:cNvSpPr/>
          <p:nvPr/>
        </p:nvSpPr>
        <p:spPr>
          <a:xfrm>
            <a:off x="9220200" y="2476500"/>
            <a:ext cx="2209800" cy="433388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706"/>
              </a:lnSpc>
              <a:buNone/>
            </a:pPr>
            <a:r>
              <a:rPr lang="en-US" sz="1050" b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API A</a:t>
            </a:r>
            <a:pPr indent="0" marL="0">
              <a:lnSpc>
                <a:spcPts val="1706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uses the new token to call </a:t>
            </a:r>
            <a:pPr indent="0" marL="0">
              <a:lnSpc>
                <a:spcPts val="1706"/>
              </a:lnSpc>
              <a:buNone/>
            </a:pPr>
            <a:r>
              <a:rPr lang="en-US" sz="1050" b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API B</a:t>
            </a:r>
            <a:pPr indent="0" marL="0">
              <a:lnSpc>
                <a:spcPts val="1706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securely on the user's behalf.</a:t>
            </a:r>
            <a:endParaRPr lang="en-US" sz="1050" dirty="0"/>
          </a:p>
        </p:txBody>
      </p:sp>
      <p:sp>
        <p:nvSpPr>
          <p:cNvPr id="37" name="Text 14"/>
          <p:cNvSpPr/>
          <p:nvPr/>
        </p:nvSpPr>
        <p:spPr>
          <a:xfrm>
            <a:off x="800100" y="3926681"/>
            <a:ext cx="48768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b="1" spc="54" kern="0" dirty="0">
                <a:solidFill>
                  <a:srgbClr val="006D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CRITICAL PARAMETERS</a:t>
            </a:r>
            <a:endParaRPr lang="en-US" sz="1350" dirty="0"/>
          </a:p>
        </p:txBody>
      </p:sp>
      <p:sp>
        <p:nvSpPr>
          <p:cNvPr id="38" name="Text 15"/>
          <p:cNvSpPr/>
          <p:nvPr/>
        </p:nvSpPr>
        <p:spPr>
          <a:xfrm>
            <a:off x="800100" y="4366617"/>
            <a:ext cx="857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083D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Grant Type</a:t>
            </a:r>
            <a:endParaRPr lang="en-US" sz="1050" dirty="0"/>
          </a:p>
        </p:txBody>
      </p:sp>
      <p:sp>
        <p:nvSpPr>
          <p:cNvPr id="39" name="Text 16"/>
          <p:cNvSpPr/>
          <p:nvPr/>
        </p:nvSpPr>
        <p:spPr>
          <a:xfrm>
            <a:off x="4821138" y="4345781"/>
            <a:ext cx="1118354" cy="232321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l" indent="0" marL="0">
              <a:lnSpc>
                <a:spcPts val="1530"/>
              </a:lnSpc>
              <a:buNone/>
            </a:pPr>
            <a:r>
              <a:rPr lang="en-US" sz="1020" dirty="0">
                <a:solidFill>
                  <a:srgbClr val="006D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jwt-bearer</a:t>
            </a:r>
            <a:endParaRPr lang="en-US" sz="1020" dirty="0"/>
          </a:p>
        </p:txBody>
      </p:sp>
      <p:sp>
        <p:nvSpPr>
          <p:cNvPr id="40" name="Text 17"/>
          <p:cNvSpPr/>
          <p:nvPr/>
        </p:nvSpPr>
        <p:spPr>
          <a:xfrm>
            <a:off x="800100" y="4751338"/>
            <a:ext cx="76581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083D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Assertion</a:t>
            </a:r>
            <a:endParaRPr lang="en-US" sz="1050" dirty="0"/>
          </a:p>
        </p:txBody>
      </p:sp>
      <p:sp>
        <p:nvSpPr>
          <p:cNvPr id="41" name="Text 18"/>
          <p:cNvSpPr/>
          <p:nvPr/>
        </p:nvSpPr>
        <p:spPr>
          <a:xfrm>
            <a:off x="4275386" y="4730502"/>
            <a:ext cx="1773257" cy="232321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l" indent="0" marL="0">
              <a:lnSpc>
                <a:spcPts val="1530"/>
              </a:lnSpc>
              <a:buNone/>
            </a:pPr>
            <a:r>
              <a:rPr lang="en-US" sz="1020" dirty="0">
                <a:solidFill>
                  <a:srgbClr val="006D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Access Token</a:t>
            </a:r>
            <a:endParaRPr lang="en-US" sz="1020" dirty="0"/>
          </a:p>
        </p:txBody>
      </p:sp>
      <p:sp>
        <p:nvSpPr>
          <p:cNvPr id="42" name="Text 19"/>
          <p:cNvSpPr/>
          <p:nvPr/>
        </p:nvSpPr>
        <p:spPr>
          <a:xfrm>
            <a:off x="800100" y="5136059"/>
            <a:ext cx="117729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083D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Requested Use</a:t>
            </a:r>
            <a:endParaRPr lang="en-US" sz="1050" dirty="0"/>
          </a:p>
        </p:txBody>
      </p:sp>
      <p:sp>
        <p:nvSpPr>
          <p:cNvPr id="43" name="Text 20"/>
          <p:cNvSpPr/>
          <p:nvPr/>
        </p:nvSpPr>
        <p:spPr>
          <a:xfrm>
            <a:off x="4665166" y="5115223"/>
            <a:ext cx="1305520" cy="232321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l" indent="0" marL="0">
              <a:lnSpc>
                <a:spcPts val="1530"/>
              </a:lnSpc>
              <a:buNone/>
            </a:pPr>
            <a:r>
              <a:rPr lang="en-US" sz="1020" dirty="0">
                <a:solidFill>
                  <a:srgbClr val="006D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on_behalf_of</a:t>
            </a:r>
            <a:endParaRPr lang="en-US" sz="1020" dirty="0"/>
          </a:p>
        </p:txBody>
      </p:sp>
      <p:sp>
        <p:nvSpPr>
          <p:cNvPr id="44" name="Text 21"/>
          <p:cNvSpPr/>
          <p:nvPr/>
        </p:nvSpPr>
        <p:spPr>
          <a:xfrm>
            <a:off x="800100" y="5520779"/>
            <a:ext cx="88011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083D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Client Auth</a:t>
            </a:r>
            <a:endParaRPr lang="en-US" sz="1050" dirty="0"/>
          </a:p>
        </p:txBody>
      </p:sp>
      <p:sp>
        <p:nvSpPr>
          <p:cNvPr id="45" name="Text 22"/>
          <p:cNvSpPr/>
          <p:nvPr/>
        </p:nvSpPr>
        <p:spPr>
          <a:xfrm>
            <a:off x="4509343" y="5499943"/>
            <a:ext cx="1492508" cy="232321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l" indent="0" marL="0">
              <a:lnSpc>
                <a:spcPts val="1530"/>
              </a:lnSpc>
              <a:buNone/>
            </a:pPr>
            <a:r>
              <a:rPr lang="en-US" sz="1020" dirty="0">
                <a:solidFill>
                  <a:srgbClr val="006D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Secret or Cert</a:t>
            </a:r>
            <a:endParaRPr lang="en-US" sz="1020" dirty="0"/>
          </a:p>
        </p:txBody>
      </p:sp>
      <p:sp>
        <p:nvSpPr>
          <p:cNvPr id="46" name="Text 23"/>
          <p:cNvSpPr/>
          <p:nvPr/>
        </p:nvSpPr>
        <p:spPr>
          <a:xfrm>
            <a:off x="6286500" y="3698081"/>
            <a:ext cx="5334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b="1" spc="54" kern="0" dirty="0">
                <a:solidFill>
                  <a:srgbClr val="006D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SECURITY CONSIDERATIONS</a:t>
            </a:r>
            <a:endParaRPr lang="en-US" sz="1350" dirty="0"/>
          </a:p>
        </p:txBody>
      </p:sp>
      <p:sp>
        <p:nvSpPr>
          <p:cNvPr id="47" name="Text 24"/>
          <p:cNvSpPr/>
          <p:nvPr/>
        </p:nvSpPr>
        <p:spPr>
          <a:xfrm>
            <a:off x="6705600" y="4231481"/>
            <a:ext cx="4800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083D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Conditional Access Failure</a:t>
            </a:r>
            <a:endParaRPr lang="en-US" sz="1050" dirty="0"/>
          </a:p>
        </p:txBody>
      </p:sp>
      <p:sp>
        <p:nvSpPr>
          <p:cNvPr id="48" name="Text 25"/>
          <p:cNvSpPr/>
          <p:nvPr/>
        </p:nvSpPr>
        <p:spPr>
          <a:xfrm>
            <a:off x="6705600" y="4421981"/>
            <a:ext cx="4800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May fail if downstream APIs require MFA or device compliance not met by the initial token.</a:t>
            </a:r>
            <a:endParaRPr lang="en-US" sz="900" dirty="0"/>
          </a:p>
        </p:txBody>
      </p:sp>
      <p:sp>
        <p:nvSpPr>
          <p:cNvPr id="49" name="Text 26"/>
          <p:cNvSpPr/>
          <p:nvPr/>
        </p:nvSpPr>
        <p:spPr>
          <a:xfrm>
            <a:off x="6743700" y="5107781"/>
            <a:ext cx="45053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083D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User Principals Only</a:t>
            </a:r>
            <a:endParaRPr lang="en-US" sz="1050" dirty="0"/>
          </a:p>
        </p:txBody>
      </p:sp>
      <p:sp>
        <p:nvSpPr>
          <p:cNvPr id="50" name="Text 27"/>
          <p:cNvSpPr/>
          <p:nvPr/>
        </p:nvSpPr>
        <p:spPr>
          <a:xfrm>
            <a:off x="6743700" y="5298281"/>
            <a:ext cx="540639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OBO flow is strictly for user-context operations; does not support service principals.</a:t>
            </a:r>
            <a:endParaRPr lang="en-US" sz="900" dirty="0"/>
          </a:p>
        </p:txBody>
      </p:sp>
      <p:sp>
        <p:nvSpPr>
          <p:cNvPr id="51" name="Text 28"/>
          <p:cNvSpPr/>
          <p:nvPr/>
        </p:nvSpPr>
        <p:spPr>
          <a:xfrm>
            <a:off x="6705600" y="5831681"/>
            <a:ext cx="42195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Stateless Identity</a:t>
            </a:r>
            <a:endParaRPr lang="en-US" sz="1050" dirty="0"/>
          </a:p>
        </p:txBody>
      </p:sp>
      <p:sp>
        <p:nvSpPr>
          <p:cNvPr id="52" name="Text 29"/>
          <p:cNvSpPr/>
          <p:nvPr/>
        </p:nvSpPr>
        <p:spPr>
          <a:xfrm>
            <a:off x="6705600" y="6022181"/>
            <a:ext cx="506349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DBEAF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Preserves auditability and security across layered microservice architectures.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22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5325" y="296883"/>
            <a:ext cx="593766" cy="44532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5325" y="1511089"/>
            <a:ext cx="5502195" cy="4227685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2831" y="1748595"/>
            <a:ext cx="445325" cy="445325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0763" y="1852504"/>
            <a:ext cx="289461" cy="237506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05868" y="1748595"/>
            <a:ext cx="1804145" cy="259425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2831" y="4721717"/>
            <a:ext cx="2454157" cy="330398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71896" y="4810782"/>
            <a:ext cx="192974" cy="152269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255741" y="4721717"/>
            <a:ext cx="2454272" cy="330398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344806" y="4810782"/>
            <a:ext cx="155864" cy="152269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82831" y="5170869"/>
            <a:ext cx="2454157" cy="330398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71896" y="5259934"/>
            <a:ext cx="192974" cy="152269"/>
          </a:xfrm>
          <a:prstGeom prst="rect">
            <a:avLst/>
          </a:prstGeom>
        </p:spPr>
      </p:pic>
      <p:pic>
        <p:nvPicPr>
          <p:cNvPr id="14" name="Image 12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55741" y="5170869"/>
            <a:ext cx="2454272" cy="330398"/>
          </a:xfrm>
          <a:prstGeom prst="rect">
            <a:avLst/>
          </a:prstGeom>
        </p:spPr>
      </p:pic>
      <p:pic>
        <p:nvPicPr>
          <p:cNvPr id="15" name="Image 13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344806" y="5259934"/>
            <a:ext cx="192974" cy="152269"/>
          </a:xfrm>
          <a:prstGeom prst="rect">
            <a:avLst/>
          </a:prstGeom>
        </p:spPr>
      </p:pic>
      <p:pic>
        <p:nvPicPr>
          <p:cNvPr id="16" name="Image 14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244403" y="1511089"/>
            <a:ext cx="5502196" cy="4227685"/>
          </a:xfrm>
          <a:prstGeom prst="rect">
            <a:avLst/>
          </a:prstGeom>
        </p:spPr>
      </p:pic>
      <p:pic>
        <p:nvPicPr>
          <p:cNvPr id="17" name="Image 15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481909" y="1748595"/>
            <a:ext cx="445325" cy="445325"/>
          </a:xfrm>
          <a:prstGeom prst="rect">
            <a:avLst/>
          </a:prstGeom>
        </p:spPr>
      </p:pic>
      <p:pic>
        <p:nvPicPr>
          <p:cNvPr id="18" name="Image 16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589529" y="1852504"/>
            <a:ext cx="230085" cy="237506"/>
          </a:xfrm>
          <a:prstGeom prst="rect">
            <a:avLst/>
          </a:prstGeom>
        </p:spPr>
      </p:pic>
      <p:pic>
        <p:nvPicPr>
          <p:cNvPr id="19" name="Image 17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0263806" y="1748595"/>
            <a:ext cx="1245286" cy="259425"/>
          </a:xfrm>
          <a:prstGeom prst="rect">
            <a:avLst/>
          </a:prstGeom>
        </p:spPr>
      </p:pic>
      <p:pic>
        <p:nvPicPr>
          <p:cNvPr id="20" name="Image 18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481909" y="4212841"/>
            <a:ext cx="5027183" cy="584837"/>
          </a:xfrm>
          <a:prstGeom prst="rect">
            <a:avLst/>
          </a:prstGeom>
        </p:spPr>
      </p:pic>
      <p:pic>
        <p:nvPicPr>
          <p:cNvPr id="21" name="Image 19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600662" y="4386448"/>
            <a:ext cx="230085" cy="237506"/>
          </a:xfrm>
          <a:prstGeom prst="rect">
            <a:avLst/>
          </a:prstGeom>
        </p:spPr>
      </p:pic>
      <p:pic>
        <p:nvPicPr>
          <p:cNvPr id="22" name="Image 20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1234475" y="4429125"/>
            <a:ext cx="155864" cy="152268"/>
          </a:xfrm>
          <a:prstGeom prst="rect">
            <a:avLst/>
          </a:prstGeom>
        </p:spPr>
      </p:pic>
      <p:pic>
        <p:nvPicPr>
          <p:cNvPr id="23" name="Image 21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6481909" y="4916431"/>
            <a:ext cx="5027183" cy="584836"/>
          </a:xfrm>
          <a:prstGeom prst="rect">
            <a:avLst/>
          </a:prstGeom>
        </p:spPr>
      </p:pic>
      <p:pic>
        <p:nvPicPr>
          <p:cNvPr id="24" name="Image 22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6600662" y="5090038"/>
            <a:ext cx="230085" cy="237506"/>
          </a:xfrm>
          <a:prstGeom prst="rect">
            <a:avLst/>
          </a:prstGeom>
        </p:spPr>
      </p:pic>
      <p:pic>
        <p:nvPicPr>
          <p:cNvPr id="25" name="Image 23" descr="preencoded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11234475" y="5132715"/>
            <a:ext cx="155864" cy="152269"/>
          </a:xfrm>
          <a:prstGeom prst="rect">
            <a:avLst/>
          </a:prstGeom>
        </p:spPr>
      </p:pic>
      <p:pic>
        <p:nvPicPr>
          <p:cNvPr id="26" name="Image 24" descr="preencoded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445325" y="5976280"/>
            <a:ext cx="11301273" cy="584837"/>
          </a:xfrm>
          <a:prstGeom prst="rect">
            <a:avLst/>
          </a:prstGeom>
        </p:spPr>
      </p:pic>
      <p:sp>
        <p:nvSpPr>
          <p:cNvPr id="27" name="Text 0"/>
          <p:cNvSpPr/>
          <p:nvPr/>
        </p:nvSpPr>
        <p:spPr>
          <a:xfrm>
            <a:off x="445325" y="460169"/>
            <a:ext cx="13561528" cy="457154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006D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Real-World Use Cases</a:t>
            </a:r>
            <a:endParaRPr lang="en-US" sz="3600" dirty="0"/>
          </a:p>
        </p:txBody>
      </p:sp>
      <p:sp>
        <p:nvSpPr>
          <p:cNvPr id="28" name="Text 1"/>
          <p:cNvSpPr/>
          <p:nvPr/>
        </p:nvSpPr>
        <p:spPr>
          <a:xfrm>
            <a:off x="445325" y="976699"/>
            <a:ext cx="13561528" cy="237507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70"/>
              </a:lnSpc>
              <a:buNone/>
            </a:pPr>
            <a:r>
              <a:rPr lang="en-US" sz="1800" dirty="0">
                <a:solidFill>
                  <a:srgbClr val="083D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How Single Sign-On scales across enterprise and technical ecosystems.</a:t>
            </a:r>
            <a:endParaRPr lang="en-US" sz="1800" dirty="0"/>
          </a:p>
        </p:txBody>
      </p:sp>
      <p:sp>
        <p:nvSpPr>
          <p:cNvPr id="29" name="Text 2"/>
          <p:cNvSpPr/>
          <p:nvPr/>
        </p:nvSpPr>
        <p:spPr>
          <a:xfrm>
            <a:off x="3994933" y="1748595"/>
            <a:ext cx="2164974" cy="259425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b="1" spc="54" kern="0" dirty="0">
                <a:solidFill>
                  <a:srgbClr val="006D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ENTERPRISE IDENTITY</a:t>
            </a:r>
            <a:endParaRPr lang="en-US" sz="1050" dirty="0"/>
          </a:p>
        </p:txBody>
      </p:sp>
      <p:sp>
        <p:nvSpPr>
          <p:cNvPr id="30" name="Text 3"/>
          <p:cNvSpPr/>
          <p:nvPr/>
        </p:nvSpPr>
        <p:spPr>
          <a:xfrm>
            <a:off x="682831" y="2461115"/>
            <a:ext cx="6032619" cy="267195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4"/>
              </a:lnSpc>
              <a:buNone/>
            </a:pPr>
            <a:r>
              <a:rPr lang="en-US" sz="2250" b="1" dirty="0">
                <a:solidFill>
                  <a:srgbClr val="006D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Internal Applications</a:t>
            </a:r>
            <a:endParaRPr lang="en-US" sz="2250" dirty="0"/>
          </a:p>
        </p:txBody>
      </p:sp>
      <p:sp>
        <p:nvSpPr>
          <p:cNvPr id="31" name="Text 4"/>
          <p:cNvSpPr/>
          <p:nvPr/>
        </p:nvSpPr>
        <p:spPr>
          <a:xfrm>
            <a:off x="682831" y="2847063"/>
            <a:ext cx="5027182" cy="835332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94"/>
              </a:lnSpc>
              <a:buNone/>
            </a:pPr>
            <a:r>
              <a:rPr lang="en-US" sz="13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Employees navigate dozens of internal tools daily. SSO centralizes access to high-frequency systems while ensuring strict governance.</a:t>
            </a:r>
            <a:endParaRPr lang="en-US" sz="1350" dirty="0"/>
          </a:p>
        </p:txBody>
      </p:sp>
      <p:sp>
        <p:nvSpPr>
          <p:cNvPr id="32" name="Text 5"/>
          <p:cNvSpPr/>
          <p:nvPr/>
        </p:nvSpPr>
        <p:spPr>
          <a:xfrm>
            <a:off x="1053935" y="4812638"/>
            <a:ext cx="2306782" cy="148442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169"/>
              </a:lnSpc>
              <a:buNone/>
            </a:pPr>
            <a:r>
              <a:rPr lang="en-US" sz="1050" b="1" dirty="0">
                <a:solidFill>
                  <a:srgbClr val="083D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HR &amp; Finance (Workday, SAP)</a:t>
            </a:r>
            <a:endParaRPr lang="en-US" sz="1050" dirty="0"/>
          </a:p>
        </p:txBody>
      </p:sp>
      <p:sp>
        <p:nvSpPr>
          <p:cNvPr id="33" name="Text 6"/>
          <p:cNvSpPr/>
          <p:nvPr/>
        </p:nvSpPr>
        <p:spPr>
          <a:xfrm>
            <a:off x="3589734" y="4812638"/>
            <a:ext cx="2057400" cy="148442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169"/>
              </a:lnSpc>
              <a:buNone/>
            </a:pPr>
            <a:r>
              <a:rPr lang="en-US" sz="1050" b="1" dirty="0">
                <a:solidFill>
                  <a:srgbClr val="083D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Project Tools (Jira, Asana)</a:t>
            </a:r>
            <a:endParaRPr lang="en-US" sz="1050" dirty="0"/>
          </a:p>
        </p:txBody>
      </p:sp>
      <p:sp>
        <p:nvSpPr>
          <p:cNvPr id="34" name="Text 7"/>
          <p:cNvSpPr/>
          <p:nvPr/>
        </p:nvSpPr>
        <p:spPr>
          <a:xfrm>
            <a:off x="1053935" y="5261789"/>
            <a:ext cx="2235530" cy="148442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169"/>
              </a:lnSpc>
              <a:buNone/>
            </a:pPr>
            <a:r>
              <a:rPr lang="en-US" sz="1050" b="1" dirty="0">
                <a:solidFill>
                  <a:srgbClr val="083D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Collaboration (Teams, Slack)</a:t>
            </a:r>
            <a:endParaRPr lang="en-US" sz="1050" dirty="0"/>
          </a:p>
        </p:txBody>
      </p:sp>
      <p:sp>
        <p:nvSpPr>
          <p:cNvPr id="35" name="Text 8"/>
          <p:cNvSpPr/>
          <p:nvPr/>
        </p:nvSpPr>
        <p:spPr>
          <a:xfrm>
            <a:off x="3626845" y="5261789"/>
            <a:ext cx="2057400" cy="148442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169"/>
              </a:lnSpc>
              <a:buNone/>
            </a:pPr>
            <a:r>
              <a:rPr lang="en-US" sz="1050" b="1" dirty="0">
                <a:solidFill>
                  <a:srgbClr val="083D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Instant Access Revocation</a:t>
            </a:r>
            <a:endParaRPr lang="en-US" sz="1050" dirty="0"/>
          </a:p>
        </p:txBody>
      </p:sp>
      <p:sp>
        <p:nvSpPr>
          <p:cNvPr id="36" name="Text 9"/>
          <p:cNvSpPr/>
          <p:nvPr/>
        </p:nvSpPr>
        <p:spPr>
          <a:xfrm>
            <a:off x="10352870" y="1748595"/>
            <a:ext cx="1494343" cy="259425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b="1" spc="54" kern="0" dirty="0">
                <a:solidFill>
                  <a:srgbClr val="006D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CLOUD NATIVE</a:t>
            </a:r>
            <a:endParaRPr lang="en-US" sz="1050" dirty="0"/>
          </a:p>
        </p:txBody>
      </p:sp>
      <p:sp>
        <p:nvSpPr>
          <p:cNvPr id="37" name="Text 10"/>
          <p:cNvSpPr/>
          <p:nvPr/>
        </p:nvSpPr>
        <p:spPr>
          <a:xfrm>
            <a:off x="6481909" y="2461115"/>
            <a:ext cx="6032619" cy="267195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4"/>
              </a:lnSpc>
              <a:buNone/>
            </a:pPr>
            <a:r>
              <a:rPr lang="en-US" sz="2250" b="1" dirty="0">
                <a:solidFill>
                  <a:srgbClr val="006D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Microservices &amp; APIs</a:t>
            </a:r>
            <a:endParaRPr lang="en-US" sz="2250" dirty="0"/>
          </a:p>
        </p:txBody>
      </p:sp>
      <p:sp>
        <p:nvSpPr>
          <p:cNvPr id="38" name="Text 11"/>
          <p:cNvSpPr/>
          <p:nvPr/>
        </p:nvSpPr>
        <p:spPr>
          <a:xfrm>
            <a:off x="6481909" y="2847063"/>
            <a:ext cx="5027183" cy="835332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94"/>
              </a:lnSpc>
              <a:buNone/>
            </a:pPr>
            <a:r>
              <a:rPr lang="en-US" sz="13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Decomposed services require consistent security. SSO enables stateless communication and preserves identity across API chains.</a:t>
            </a:r>
            <a:endParaRPr lang="en-US" sz="1350" dirty="0"/>
          </a:p>
        </p:txBody>
      </p:sp>
      <p:sp>
        <p:nvSpPr>
          <p:cNvPr id="39" name="Text 12"/>
          <p:cNvSpPr/>
          <p:nvPr/>
        </p:nvSpPr>
        <p:spPr>
          <a:xfrm>
            <a:off x="6949500" y="4331594"/>
            <a:ext cx="2075213" cy="228577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83D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Streaming Platforms</a:t>
            </a:r>
            <a:endParaRPr lang="en-US" sz="1200" dirty="0"/>
          </a:p>
        </p:txBody>
      </p:sp>
      <p:sp>
        <p:nvSpPr>
          <p:cNvPr id="40" name="Text 13"/>
          <p:cNvSpPr/>
          <p:nvPr/>
        </p:nvSpPr>
        <p:spPr>
          <a:xfrm>
            <a:off x="6949500" y="4560171"/>
            <a:ext cx="2075213" cy="118753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935"/>
              </a:lnSpc>
              <a:buNone/>
            </a:pPr>
            <a:r>
              <a:rPr lang="en-US" sz="900" i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e.g., Netflix profile/content sync</a:t>
            </a:r>
            <a:endParaRPr lang="en-US" sz="900" dirty="0"/>
          </a:p>
        </p:txBody>
      </p:sp>
      <p:sp>
        <p:nvSpPr>
          <p:cNvPr id="41" name="Text 14"/>
          <p:cNvSpPr/>
          <p:nvPr/>
        </p:nvSpPr>
        <p:spPr>
          <a:xfrm>
            <a:off x="6949500" y="5035184"/>
            <a:ext cx="2386940" cy="228577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83D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Ride-Sharing Ecosystems</a:t>
            </a:r>
            <a:endParaRPr lang="en-US" sz="1200" dirty="0"/>
          </a:p>
        </p:txBody>
      </p:sp>
      <p:sp>
        <p:nvSpPr>
          <p:cNvPr id="42" name="Text 15"/>
          <p:cNvSpPr/>
          <p:nvPr/>
        </p:nvSpPr>
        <p:spPr>
          <a:xfrm>
            <a:off x="6949500" y="5263761"/>
            <a:ext cx="2386940" cy="118753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935"/>
              </a:lnSpc>
              <a:buNone/>
            </a:pPr>
            <a:r>
              <a:rPr lang="en-US" sz="900" i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e.g., Uber rides, delivery, &amp; payments</a:t>
            </a:r>
            <a:endParaRPr lang="en-US" sz="900" dirty="0"/>
          </a:p>
        </p:txBody>
      </p:sp>
      <p:sp>
        <p:nvSpPr>
          <p:cNvPr id="43" name="Text 16"/>
          <p:cNvSpPr/>
          <p:nvPr/>
        </p:nvSpPr>
        <p:spPr>
          <a:xfrm>
            <a:off x="623455" y="6164731"/>
            <a:ext cx="10001992" cy="207818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636"/>
              </a:lnSpc>
              <a:buNone/>
            </a:pPr>
            <a:r>
              <a:rPr lang="en-US" sz="1350" i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"SSO enables stateless authentication via JWT tokens, reducing server load and improving scalability."</a:t>
            </a:r>
            <a:endParaRPr lang="en-US" sz="1350" dirty="0"/>
          </a:p>
        </p:txBody>
      </p:sp>
      <p:sp>
        <p:nvSpPr>
          <p:cNvPr id="44" name="Text 17"/>
          <p:cNvSpPr/>
          <p:nvPr/>
        </p:nvSpPr>
        <p:spPr>
          <a:xfrm>
            <a:off x="8736203" y="6095033"/>
            <a:ext cx="2832265" cy="118753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r" indent="0" marL="0">
              <a:lnSpc>
                <a:spcPts val="935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ARCHITECTURE TIP</a:t>
            </a:r>
            <a:endParaRPr lang="en-US" sz="900" dirty="0"/>
          </a:p>
        </p:txBody>
      </p:sp>
      <p:sp>
        <p:nvSpPr>
          <p:cNvPr id="45" name="Text 18"/>
          <p:cNvSpPr/>
          <p:nvPr/>
        </p:nvSpPr>
        <p:spPr>
          <a:xfrm>
            <a:off x="8736203" y="6228631"/>
            <a:ext cx="2832265" cy="185551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r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E295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Centralized Policy Enforcement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16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958" y="1068921"/>
            <a:ext cx="772732" cy="48296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958" y="1503583"/>
            <a:ext cx="3570240" cy="3454783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4930" y="1825555"/>
            <a:ext cx="547352" cy="574770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3718" y="1954344"/>
            <a:ext cx="289775" cy="289775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930" y="2641804"/>
            <a:ext cx="152937" cy="171425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4930" y="3221353"/>
            <a:ext cx="152937" cy="171425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4930" y="3575522"/>
            <a:ext cx="152937" cy="171425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310775" y="1503583"/>
            <a:ext cx="3570240" cy="3454783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632747" y="1825555"/>
            <a:ext cx="547352" cy="574770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761536" y="1954344"/>
            <a:ext cx="289774" cy="289775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632747" y="2641804"/>
            <a:ext cx="152937" cy="171425"/>
          </a:xfrm>
          <a:prstGeom prst="rect">
            <a:avLst/>
          </a:prstGeom>
        </p:spPr>
      </p:pic>
      <p:pic>
        <p:nvPicPr>
          <p:cNvPr id="14" name="Image 12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632747" y="3221353"/>
            <a:ext cx="152937" cy="171425"/>
          </a:xfrm>
          <a:prstGeom prst="rect">
            <a:avLst/>
          </a:prstGeom>
        </p:spPr>
      </p:pic>
      <p:pic>
        <p:nvPicPr>
          <p:cNvPr id="15" name="Image 13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632747" y="3800903"/>
            <a:ext cx="152937" cy="171425"/>
          </a:xfrm>
          <a:prstGeom prst="rect">
            <a:avLst/>
          </a:prstGeom>
        </p:spPr>
      </p:pic>
      <p:pic>
        <p:nvPicPr>
          <p:cNvPr id="16" name="Image 14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138593" y="1503583"/>
            <a:ext cx="3570366" cy="3454783"/>
          </a:xfrm>
          <a:prstGeom prst="rect">
            <a:avLst/>
          </a:prstGeom>
        </p:spPr>
      </p:pic>
      <p:pic>
        <p:nvPicPr>
          <p:cNvPr id="17" name="Image 15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460564" y="1825555"/>
            <a:ext cx="547352" cy="574770"/>
          </a:xfrm>
          <a:prstGeom prst="rect">
            <a:avLst/>
          </a:prstGeom>
        </p:spPr>
      </p:pic>
      <p:pic>
        <p:nvPicPr>
          <p:cNvPr id="18" name="Image 16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589353" y="1954344"/>
            <a:ext cx="289775" cy="289775"/>
          </a:xfrm>
          <a:prstGeom prst="rect">
            <a:avLst/>
          </a:prstGeom>
        </p:spPr>
      </p:pic>
      <p:pic>
        <p:nvPicPr>
          <p:cNvPr id="19" name="Image 17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460564" y="2641804"/>
            <a:ext cx="152937" cy="171425"/>
          </a:xfrm>
          <a:prstGeom prst="rect">
            <a:avLst/>
          </a:prstGeom>
        </p:spPr>
      </p:pic>
      <p:pic>
        <p:nvPicPr>
          <p:cNvPr id="20" name="Image 18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460564" y="3221353"/>
            <a:ext cx="152937" cy="171425"/>
          </a:xfrm>
          <a:prstGeom prst="rect">
            <a:avLst/>
          </a:prstGeom>
        </p:spPr>
      </p:pic>
      <p:pic>
        <p:nvPicPr>
          <p:cNvPr id="21" name="Image 19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8460564" y="3800903"/>
            <a:ext cx="152937" cy="171425"/>
          </a:xfrm>
          <a:prstGeom prst="rect">
            <a:avLst/>
          </a:prstGeom>
        </p:spPr>
      </p:pic>
      <p:pic>
        <p:nvPicPr>
          <p:cNvPr id="22" name="Image 20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482958" y="5344732"/>
            <a:ext cx="11226001" cy="1030310"/>
          </a:xfrm>
          <a:prstGeom prst="rect">
            <a:avLst/>
          </a:prstGeom>
        </p:spPr>
      </p:pic>
      <p:pic>
        <p:nvPicPr>
          <p:cNvPr id="23" name="Image 21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8007666" y="5715000"/>
            <a:ext cx="289775" cy="289775"/>
          </a:xfrm>
          <a:prstGeom prst="rect">
            <a:avLst/>
          </a:prstGeom>
        </p:spPr>
      </p:pic>
      <p:sp>
        <p:nvSpPr>
          <p:cNvPr id="24" name="Text 0"/>
          <p:cNvSpPr/>
          <p:nvPr/>
        </p:nvSpPr>
        <p:spPr>
          <a:xfrm>
            <a:off x="482958" y="482958"/>
            <a:ext cx="13471201" cy="457175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006D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Benefits of SSO</a:t>
            </a:r>
            <a:endParaRPr lang="en-US" sz="3600" dirty="0"/>
          </a:p>
        </p:txBody>
      </p:sp>
      <p:sp>
        <p:nvSpPr>
          <p:cNvPr id="25" name="Text 1"/>
          <p:cNvSpPr/>
          <p:nvPr/>
        </p:nvSpPr>
        <p:spPr>
          <a:xfrm>
            <a:off x="1481070" y="1984151"/>
            <a:ext cx="1815921" cy="257577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028"/>
              </a:lnSpc>
              <a:buNone/>
            </a:pPr>
            <a:r>
              <a:rPr lang="en-US" sz="1800" b="1" dirty="0">
                <a:solidFill>
                  <a:srgbClr val="006D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Enhanced UX</a:t>
            </a:r>
            <a:endParaRPr lang="en-US" sz="1800" dirty="0"/>
          </a:p>
        </p:txBody>
      </p:sp>
      <p:sp>
        <p:nvSpPr>
          <p:cNvPr id="26" name="Text 2"/>
          <p:cNvSpPr/>
          <p:nvPr/>
        </p:nvSpPr>
        <p:spPr>
          <a:xfrm>
            <a:off x="1022261" y="2593508"/>
            <a:ext cx="2708965" cy="450761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l" indent="0" marL="0">
              <a:lnSpc>
                <a:spcPts val="1775"/>
              </a:lnSpc>
              <a:buNone/>
            </a:pPr>
            <a:r>
              <a:rPr lang="en-US" sz="13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Eliminates password fatigue and friction.</a:t>
            </a:r>
            <a:endParaRPr lang="en-US" sz="1350" dirty="0"/>
          </a:p>
        </p:txBody>
      </p:sp>
      <p:sp>
        <p:nvSpPr>
          <p:cNvPr id="27" name="Text 3"/>
          <p:cNvSpPr/>
          <p:nvPr/>
        </p:nvSpPr>
        <p:spPr>
          <a:xfrm>
            <a:off x="1022261" y="3173057"/>
            <a:ext cx="3110248" cy="22538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l" indent="0" marL="0">
              <a:lnSpc>
                <a:spcPts val="1775"/>
              </a:lnSpc>
              <a:buNone/>
            </a:pPr>
            <a:r>
              <a:rPr lang="en-US" sz="13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Seamless cross-app navigation.</a:t>
            </a:r>
            <a:endParaRPr lang="en-US" sz="1350" dirty="0"/>
          </a:p>
        </p:txBody>
      </p:sp>
      <p:sp>
        <p:nvSpPr>
          <p:cNvPr id="28" name="Text 4"/>
          <p:cNvSpPr/>
          <p:nvPr/>
        </p:nvSpPr>
        <p:spPr>
          <a:xfrm>
            <a:off x="1022261" y="3527227"/>
            <a:ext cx="2708965" cy="450761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l" indent="0" marL="0">
              <a:lnSpc>
                <a:spcPts val="1775"/>
              </a:lnSpc>
              <a:buNone/>
            </a:pPr>
            <a:r>
              <a:rPr lang="en-US" sz="13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Higher user satisfaction and productivity.</a:t>
            </a:r>
            <a:endParaRPr lang="en-US" sz="1350" dirty="0"/>
          </a:p>
        </p:txBody>
      </p:sp>
      <p:sp>
        <p:nvSpPr>
          <p:cNvPr id="29" name="Text 5"/>
          <p:cNvSpPr/>
          <p:nvPr/>
        </p:nvSpPr>
        <p:spPr>
          <a:xfrm>
            <a:off x="5308888" y="1984151"/>
            <a:ext cx="2192628" cy="257577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028"/>
              </a:lnSpc>
              <a:buNone/>
            </a:pPr>
            <a:r>
              <a:rPr lang="en-US" sz="1800" b="1" dirty="0">
                <a:solidFill>
                  <a:srgbClr val="006D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Unified Security</a:t>
            </a:r>
            <a:endParaRPr lang="en-US" sz="1800" dirty="0"/>
          </a:p>
        </p:txBody>
      </p:sp>
      <p:sp>
        <p:nvSpPr>
          <p:cNvPr id="30" name="Text 6"/>
          <p:cNvSpPr/>
          <p:nvPr/>
        </p:nvSpPr>
        <p:spPr>
          <a:xfrm>
            <a:off x="4850078" y="2593508"/>
            <a:ext cx="2708965" cy="450761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l" indent="0" marL="0">
              <a:lnSpc>
                <a:spcPts val="1775"/>
              </a:lnSpc>
              <a:buNone/>
            </a:pPr>
            <a:r>
              <a:rPr lang="en-US" sz="13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Centralized MFA &amp; Conditional Access.</a:t>
            </a:r>
            <a:endParaRPr lang="en-US" sz="1350" dirty="0"/>
          </a:p>
        </p:txBody>
      </p:sp>
      <p:sp>
        <p:nvSpPr>
          <p:cNvPr id="31" name="Text 7"/>
          <p:cNvSpPr/>
          <p:nvPr/>
        </p:nvSpPr>
        <p:spPr>
          <a:xfrm>
            <a:off x="4850078" y="3173057"/>
            <a:ext cx="2708965" cy="450761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l" indent="0" marL="0">
              <a:lnSpc>
                <a:spcPts val="1775"/>
              </a:lnSpc>
              <a:buNone/>
            </a:pPr>
            <a:r>
              <a:rPr lang="en-US" sz="13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Instant access revocation (offboarding).</a:t>
            </a:r>
            <a:endParaRPr lang="en-US" sz="1350" dirty="0"/>
          </a:p>
        </p:txBody>
      </p:sp>
      <p:sp>
        <p:nvSpPr>
          <p:cNvPr id="32" name="Text 8"/>
          <p:cNvSpPr/>
          <p:nvPr/>
        </p:nvSpPr>
        <p:spPr>
          <a:xfrm>
            <a:off x="4850078" y="3752607"/>
            <a:ext cx="2708965" cy="450761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l" indent="0" marL="0">
              <a:lnSpc>
                <a:spcPts val="1775"/>
              </a:lnSpc>
              <a:buNone/>
            </a:pPr>
            <a:r>
              <a:rPr lang="en-US" sz="13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Reduced attack surface (no local DBs).</a:t>
            </a:r>
            <a:endParaRPr lang="en-US" sz="1350" dirty="0"/>
          </a:p>
        </p:txBody>
      </p:sp>
      <p:sp>
        <p:nvSpPr>
          <p:cNvPr id="33" name="Text 9"/>
          <p:cNvSpPr/>
          <p:nvPr/>
        </p:nvSpPr>
        <p:spPr>
          <a:xfrm>
            <a:off x="9136705" y="1984151"/>
            <a:ext cx="1709671" cy="257577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028"/>
              </a:lnSpc>
              <a:buNone/>
            </a:pPr>
            <a:r>
              <a:rPr lang="en-US" sz="1800" b="1" dirty="0">
                <a:solidFill>
                  <a:srgbClr val="006D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Easy Scaling</a:t>
            </a:r>
            <a:endParaRPr lang="en-US" sz="1800" dirty="0"/>
          </a:p>
        </p:txBody>
      </p:sp>
      <p:sp>
        <p:nvSpPr>
          <p:cNvPr id="34" name="Text 10"/>
          <p:cNvSpPr/>
          <p:nvPr/>
        </p:nvSpPr>
        <p:spPr>
          <a:xfrm>
            <a:off x="8677895" y="2593508"/>
            <a:ext cx="2709091" cy="450761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l" indent="0" marL="0">
              <a:lnSpc>
                <a:spcPts val="1775"/>
              </a:lnSpc>
              <a:buNone/>
            </a:pPr>
            <a:r>
              <a:rPr lang="en-US" sz="13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Sync user pools across 100s of apps.</a:t>
            </a:r>
            <a:endParaRPr lang="en-US" sz="1350" dirty="0"/>
          </a:p>
        </p:txBody>
      </p:sp>
      <p:sp>
        <p:nvSpPr>
          <p:cNvPr id="35" name="Text 11"/>
          <p:cNvSpPr/>
          <p:nvPr/>
        </p:nvSpPr>
        <p:spPr>
          <a:xfrm>
            <a:off x="8677895" y="3173057"/>
            <a:ext cx="2709091" cy="450761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l" indent="0" marL="0">
              <a:lnSpc>
                <a:spcPts val="1775"/>
              </a:lnSpc>
              <a:buNone/>
            </a:pPr>
            <a:r>
              <a:rPr lang="en-US" sz="13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Rapid onboarding for new services.</a:t>
            </a:r>
            <a:endParaRPr lang="en-US" sz="1350" dirty="0"/>
          </a:p>
        </p:txBody>
      </p:sp>
      <p:sp>
        <p:nvSpPr>
          <p:cNvPr id="36" name="Text 12"/>
          <p:cNvSpPr/>
          <p:nvPr/>
        </p:nvSpPr>
        <p:spPr>
          <a:xfrm>
            <a:off x="8677895" y="3752607"/>
            <a:ext cx="2709091" cy="450761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l" indent="0" marL="0">
              <a:lnSpc>
                <a:spcPts val="1775"/>
              </a:lnSpc>
              <a:buNone/>
            </a:pPr>
            <a:r>
              <a:rPr lang="en-US" sz="13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Consistent security posture as you grow.</a:t>
            </a:r>
            <a:endParaRPr lang="en-US" sz="1350" dirty="0"/>
          </a:p>
        </p:txBody>
      </p:sp>
      <p:sp>
        <p:nvSpPr>
          <p:cNvPr id="37" name="Text 13"/>
          <p:cNvSpPr/>
          <p:nvPr/>
        </p:nvSpPr>
        <p:spPr>
          <a:xfrm>
            <a:off x="676141" y="5666704"/>
            <a:ext cx="5610359" cy="160986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268"/>
              </a:lnSpc>
              <a:buNone/>
            </a:pPr>
            <a:r>
              <a:rPr lang="en-US" sz="1050" b="1" spc="99" kern="0" dirty="0">
                <a:solidFill>
                  <a:srgbClr val="E295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EFFICIENCY STAT</a:t>
            </a:r>
            <a:endParaRPr lang="en-US" sz="1050" dirty="0"/>
          </a:p>
        </p:txBody>
      </p:sp>
      <p:sp>
        <p:nvSpPr>
          <p:cNvPr id="38" name="Text 14"/>
          <p:cNvSpPr/>
          <p:nvPr/>
        </p:nvSpPr>
        <p:spPr>
          <a:xfrm>
            <a:off x="676141" y="5827690"/>
            <a:ext cx="6732431" cy="22538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775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SSO reduces the average number of passwords per employee</a:t>
            </a:r>
            <a:endParaRPr lang="en-US" sz="1500" dirty="0"/>
          </a:p>
        </p:txBody>
      </p:sp>
      <p:sp>
        <p:nvSpPr>
          <p:cNvPr id="39" name="Text 15"/>
          <p:cNvSpPr/>
          <p:nvPr/>
        </p:nvSpPr>
        <p:spPr>
          <a:xfrm>
            <a:off x="7029676" y="5634507"/>
            <a:ext cx="347730" cy="321972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535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</a:t>
            </a:r>
            <a:endParaRPr lang="en-US" sz="2700" dirty="0"/>
          </a:p>
        </p:txBody>
      </p:sp>
      <p:sp>
        <p:nvSpPr>
          <p:cNvPr id="40" name="Text 16"/>
          <p:cNvSpPr/>
          <p:nvPr/>
        </p:nvSpPr>
        <p:spPr>
          <a:xfrm>
            <a:off x="6864666" y="5956479"/>
            <a:ext cx="743755" cy="128789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014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Before SSO</a:t>
            </a:r>
            <a:endParaRPr lang="en-US" sz="900" dirty="0"/>
          </a:p>
        </p:txBody>
      </p:sp>
      <p:sp>
        <p:nvSpPr>
          <p:cNvPr id="41" name="Text 17"/>
          <p:cNvSpPr/>
          <p:nvPr/>
        </p:nvSpPr>
        <p:spPr>
          <a:xfrm>
            <a:off x="9001754" y="5634507"/>
            <a:ext cx="173865" cy="321972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535"/>
              </a:lnSpc>
              <a:buNone/>
            </a:pPr>
            <a:r>
              <a:rPr lang="en-US" sz="2700" b="1" dirty="0">
                <a:solidFill>
                  <a:srgbClr val="E295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2700" dirty="0"/>
          </a:p>
        </p:txBody>
      </p:sp>
      <p:sp>
        <p:nvSpPr>
          <p:cNvPr id="42" name="Text 18"/>
          <p:cNvSpPr/>
          <p:nvPr/>
        </p:nvSpPr>
        <p:spPr>
          <a:xfrm>
            <a:off x="8820645" y="5956479"/>
            <a:ext cx="608527" cy="128789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014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With SSO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2026-02-09T13:39:17Z</dcterms:created>
  <dcterms:modified xsi:type="dcterms:W3CDTF">2026-02-09T13:39:17Z</dcterms:modified>
</cp:coreProperties>
</file>