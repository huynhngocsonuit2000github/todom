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12192000"/>
  <p:embeddedFontLst>
    <p:embeddedFont>
      <p:font typeface="Inter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jfgDnkYyKN2iuGOSHfPF+7XZaZ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font" Target="fonts/Inter-regular.fntdata"/><Relationship Id="rId14" Type="http://schemas.openxmlformats.org/officeDocument/2006/relationships/slide" Target="slides/slide10.xml"/><Relationship Id="rId17" Type="http://schemas.openxmlformats.org/officeDocument/2006/relationships/font" Target="fonts/Inter-italic.fntdata"/><Relationship Id="rId16" Type="http://schemas.openxmlformats.org/officeDocument/2006/relationships/font" Target="fonts/Inter-bold.fntdata"/><Relationship Id="rId19" Type="http://customschemas.google.com/relationships/presentationmetadata" Target="metadata"/><Relationship Id="rId18" Type="http://schemas.openxmlformats.org/officeDocument/2006/relationships/font" Target="fonts/Inter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Password Management: User need to manage extra password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Technical Complexity: Every app has to build and manage its own login, users, and security, which is hard and time-consuming.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Access Governance Risk: </a:t>
            </a:r>
            <a:r>
              <a:rPr lang="en-US"/>
              <a:t>Difficult</a:t>
            </a:r>
            <a:r>
              <a:rPr lang="en-US"/>
              <a:t> to sync roles/permission or revoke access across disparate user pools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Centralized Authentication: 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One main system checks who you are.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Seamless Access: After logging in, you can open other apps without logging in again.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Centralized Control: 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Security rules (like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MFA, 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Password policy, Conditional access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) are set in one place. </a:t>
            </a:r>
            <a:endParaRPr/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Icon: mostly use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User Identity Management: when user add to icon, they just need to add to the Directory of Icon. then can access to all of the application of icon (Depend on internal application also)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Token: can verify the user and permission also</a:t>
            </a:r>
            <a:endParaRPr/>
          </a:p>
        </p:txBody>
      </p:sp>
      <p:sp>
        <p:nvSpPr>
          <p:cNvPr id="92" name="Google Shape;9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d8bc91e4c_0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bd8bc91e4c_0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bd8bc91e4c_0_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1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5.png"/><Relationship Id="rId7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4.png"/><Relationship Id="rId10" Type="http://schemas.openxmlformats.org/officeDocument/2006/relationships/image" Target="../media/image11.png"/><Relationship Id="rId13" Type="http://schemas.openxmlformats.org/officeDocument/2006/relationships/image" Target="../media/image50.png"/><Relationship Id="rId1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8.png"/><Relationship Id="rId4" Type="http://schemas.openxmlformats.org/officeDocument/2006/relationships/image" Target="../media/image8.png"/><Relationship Id="rId9" Type="http://schemas.openxmlformats.org/officeDocument/2006/relationships/image" Target="../media/image7.png"/><Relationship Id="rId15" Type="http://schemas.openxmlformats.org/officeDocument/2006/relationships/image" Target="../media/image17.png"/><Relationship Id="rId14" Type="http://schemas.openxmlformats.org/officeDocument/2006/relationships/image" Target="../media/image15.png"/><Relationship Id="rId5" Type="http://schemas.openxmlformats.org/officeDocument/2006/relationships/image" Target="../media/image9.png"/><Relationship Id="rId6" Type="http://schemas.openxmlformats.org/officeDocument/2006/relationships/image" Target="../media/image6.png"/><Relationship Id="rId7" Type="http://schemas.openxmlformats.org/officeDocument/2006/relationships/image" Target="../media/image12.png"/><Relationship Id="rId8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23.png"/><Relationship Id="rId10" Type="http://schemas.openxmlformats.org/officeDocument/2006/relationships/image" Target="../media/image27.png"/><Relationship Id="rId13" Type="http://schemas.openxmlformats.org/officeDocument/2006/relationships/image" Target="../media/image26.png"/><Relationship Id="rId1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8.png"/><Relationship Id="rId4" Type="http://schemas.openxmlformats.org/officeDocument/2006/relationships/image" Target="../media/image21.png"/><Relationship Id="rId9" Type="http://schemas.openxmlformats.org/officeDocument/2006/relationships/image" Target="../media/image20.png"/><Relationship Id="rId15" Type="http://schemas.openxmlformats.org/officeDocument/2006/relationships/image" Target="../media/image31.png"/><Relationship Id="rId14" Type="http://schemas.openxmlformats.org/officeDocument/2006/relationships/image" Target="../media/image25.png"/><Relationship Id="rId16" Type="http://schemas.openxmlformats.org/officeDocument/2006/relationships/image" Target="../media/image29.png"/><Relationship Id="rId5" Type="http://schemas.openxmlformats.org/officeDocument/2006/relationships/image" Target="../media/image18.png"/><Relationship Id="rId6" Type="http://schemas.openxmlformats.org/officeDocument/2006/relationships/image" Target="../media/image22.png"/><Relationship Id="rId7" Type="http://schemas.openxmlformats.org/officeDocument/2006/relationships/image" Target="../media/image19.png"/><Relationship Id="rId8" Type="http://schemas.openxmlformats.org/officeDocument/2006/relationships/image" Target="../media/image24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37.png"/><Relationship Id="rId10" Type="http://schemas.openxmlformats.org/officeDocument/2006/relationships/image" Target="../media/image35.png"/><Relationship Id="rId13" Type="http://schemas.openxmlformats.org/officeDocument/2006/relationships/image" Target="../media/image39.png"/><Relationship Id="rId1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1.png"/><Relationship Id="rId4" Type="http://schemas.openxmlformats.org/officeDocument/2006/relationships/image" Target="../media/image30.png"/><Relationship Id="rId9" Type="http://schemas.openxmlformats.org/officeDocument/2006/relationships/image" Target="../media/image36.png"/><Relationship Id="rId14" Type="http://schemas.openxmlformats.org/officeDocument/2006/relationships/image" Target="../media/image40.png"/><Relationship Id="rId5" Type="http://schemas.openxmlformats.org/officeDocument/2006/relationships/image" Target="../media/image54.png"/><Relationship Id="rId6" Type="http://schemas.openxmlformats.org/officeDocument/2006/relationships/image" Target="../media/image34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1.png"/><Relationship Id="rId4" Type="http://schemas.openxmlformats.org/officeDocument/2006/relationships/image" Target="../media/image4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1.png"/><Relationship Id="rId4" Type="http://schemas.openxmlformats.org/officeDocument/2006/relationships/image" Target="../media/image4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1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Relationship Id="rId8" Type="http://schemas.openxmlformats.org/officeDocument/2006/relationships/image" Target="../media/image46.png"/></Relationships>
</file>

<file path=ppt/slides/_rels/slide8.xml.rels><?xml version="1.0" encoding="UTF-8" standalone="yes"?><Relationships xmlns="http://schemas.openxmlformats.org/package/2006/relationships"><Relationship Id="rId20" Type="http://schemas.openxmlformats.org/officeDocument/2006/relationships/image" Target="../media/image67.png"/><Relationship Id="rId11" Type="http://schemas.openxmlformats.org/officeDocument/2006/relationships/image" Target="../media/image58.png"/><Relationship Id="rId10" Type="http://schemas.openxmlformats.org/officeDocument/2006/relationships/image" Target="../media/image57.png"/><Relationship Id="rId21" Type="http://schemas.openxmlformats.org/officeDocument/2006/relationships/image" Target="../media/image68.png"/><Relationship Id="rId13" Type="http://schemas.openxmlformats.org/officeDocument/2006/relationships/image" Target="../media/image59.png"/><Relationship Id="rId12" Type="http://schemas.openxmlformats.org/officeDocument/2006/relationships/image" Target="../media/image6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1.png"/><Relationship Id="rId4" Type="http://schemas.openxmlformats.org/officeDocument/2006/relationships/image" Target="../media/image3.png"/><Relationship Id="rId9" Type="http://schemas.openxmlformats.org/officeDocument/2006/relationships/image" Target="../media/image56.png"/><Relationship Id="rId15" Type="http://schemas.openxmlformats.org/officeDocument/2006/relationships/image" Target="../media/image61.png"/><Relationship Id="rId14" Type="http://schemas.openxmlformats.org/officeDocument/2006/relationships/image" Target="../media/image60.png"/><Relationship Id="rId17" Type="http://schemas.openxmlformats.org/officeDocument/2006/relationships/image" Target="../media/image66.png"/><Relationship Id="rId16" Type="http://schemas.openxmlformats.org/officeDocument/2006/relationships/image" Target="../media/image63.png"/><Relationship Id="rId5" Type="http://schemas.openxmlformats.org/officeDocument/2006/relationships/image" Target="../media/image48.png"/><Relationship Id="rId19" Type="http://schemas.openxmlformats.org/officeDocument/2006/relationships/image" Target="../media/image65.png"/><Relationship Id="rId6" Type="http://schemas.openxmlformats.org/officeDocument/2006/relationships/image" Target="../media/image49.png"/><Relationship Id="rId18" Type="http://schemas.openxmlformats.org/officeDocument/2006/relationships/image" Target="../media/image64.png"/><Relationship Id="rId7" Type="http://schemas.openxmlformats.org/officeDocument/2006/relationships/image" Target="../media/image52.png"/><Relationship Id="rId8" Type="http://schemas.openxmlformats.org/officeDocument/2006/relationships/image" Target="../media/image55.png"/></Relationships>
</file>

<file path=ppt/slides/_rels/slide9.xml.rels><?xml version="1.0" encoding="UTF-8" standalone="yes"?><Relationships xmlns="http://schemas.openxmlformats.org/package/2006/relationships"><Relationship Id="rId20" Type="http://schemas.openxmlformats.org/officeDocument/2006/relationships/image" Target="../media/image86.png"/><Relationship Id="rId22" Type="http://schemas.openxmlformats.org/officeDocument/2006/relationships/image" Target="../media/image88.png"/><Relationship Id="rId21" Type="http://schemas.openxmlformats.org/officeDocument/2006/relationships/image" Target="../media/image87.png"/><Relationship Id="rId24" Type="http://schemas.openxmlformats.org/officeDocument/2006/relationships/image" Target="../media/image90.png"/><Relationship Id="rId23" Type="http://schemas.openxmlformats.org/officeDocument/2006/relationships/image" Target="../media/image8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8.png"/><Relationship Id="rId4" Type="http://schemas.openxmlformats.org/officeDocument/2006/relationships/image" Target="../media/image69.png"/><Relationship Id="rId9" Type="http://schemas.openxmlformats.org/officeDocument/2006/relationships/image" Target="../media/image78.png"/><Relationship Id="rId26" Type="http://schemas.openxmlformats.org/officeDocument/2006/relationships/image" Target="../media/image120.png"/><Relationship Id="rId25" Type="http://schemas.openxmlformats.org/officeDocument/2006/relationships/image" Target="../media/image92.png"/><Relationship Id="rId5" Type="http://schemas.openxmlformats.org/officeDocument/2006/relationships/image" Target="../media/image70.png"/><Relationship Id="rId6" Type="http://schemas.openxmlformats.org/officeDocument/2006/relationships/image" Target="../media/image71.png"/><Relationship Id="rId7" Type="http://schemas.openxmlformats.org/officeDocument/2006/relationships/image" Target="../media/image72.png"/><Relationship Id="rId8" Type="http://schemas.openxmlformats.org/officeDocument/2006/relationships/image" Target="../media/image73.png"/><Relationship Id="rId11" Type="http://schemas.openxmlformats.org/officeDocument/2006/relationships/image" Target="../media/image75.png"/><Relationship Id="rId10" Type="http://schemas.openxmlformats.org/officeDocument/2006/relationships/image" Target="../media/image74.png"/><Relationship Id="rId13" Type="http://schemas.openxmlformats.org/officeDocument/2006/relationships/image" Target="../media/image77.png"/><Relationship Id="rId12" Type="http://schemas.openxmlformats.org/officeDocument/2006/relationships/image" Target="../media/image76.png"/><Relationship Id="rId15" Type="http://schemas.openxmlformats.org/officeDocument/2006/relationships/image" Target="../media/image80.png"/><Relationship Id="rId14" Type="http://schemas.openxmlformats.org/officeDocument/2006/relationships/image" Target="../media/image79.png"/><Relationship Id="rId17" Type="http://schemas.openxmlformats.org/officeDocument/2006/relationships/image" Target="../media/image83.png"/><Relationship Id="rId16" Type="http://schemas.openxmlformats.org/officeDocument/2006/relationships/image" Target="../media/image81.png"/><Relationship Id="rId19" Type="http://schemas.openxmlformats.org/officeDocument/2006/relationships/image" Target="../media/image85.png"/><Relationship Id="rId18" Type="http://schemas.openxmlformats.org/officeDocument/2006/relationships/image" Target="../media/image8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8.png"/><Relationship Id="rId4" Type="http://schemas.openxmlformats.org/officeDocument/2006/relationships/image" Target="../media/image96.png"/><Relationship Id="rId9" Type="http://schemas.openxmlformats.org/officeDocument/2006/relationships/image" Target="../media/image106.png"/><Relationship Id="rId5" Type="http://schemas.openxmlformats.org/officeDocument/2006/relationships/image" Target="../media/image95.png"/><Relationship Id="rId6" Type="http://schemas.openxmlformats.org/officeDocument/2006/relationships/image" Target="../media/image97.png"/><Relationship Id="rId7" Type="http://schemas.openxmlformats.org/officeDocument/2006/relationships/image" Target="../media/image98.png"/><Relationship Id="rId8" Type="http://schemas.openxmlformats.org/officeDocument/2006/relationships/image" Target="../media/image100.png"/><Relationship Id="rId11" Type="http://schemas.openxmlformats.org/officeDocument/2006/relationships/image" Target="../media/image104.png"/><Relationship Id="rId10" Type="http://schemas.openxmlformats.org/officeDocument/2006/relationships/image" Target="../media/image105.png"/><Relationship Id="rId13" Type="http://schemas.openxmlformats.org/officeDocument/2006/relationships/image" Target="../media/image113.png"/><Relationship Id="rId12" Type="http://schemas.openxmlformats.org/officeDocument/2006/relationships/image" Target="../media/image111.png"/><Relationship Id="rId15" Type="http://schemas.openxmlformats.org/officeDocument/2006/relationships/image" Target="../media/image127.png"/><Relationship Id="rId14" Type="http://schemas.openxmlformats.org/officeDocument/2006/relationships/image" Target="../media/image112.png"/><Relationship Id="rId16" Type="http://schemas.openxmlformats.org/officeDocument/2006/relationships/image" Target="../media/image1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1910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" name="Google Shape;1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1000"/>
            <a:ext cx="7620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" name="Google Shape;18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9812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" name="Google Shape;19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1623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" name="Google Shape;20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3434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"/>
          <p:cNvSpPr/>
          <p:nvPr/>
        </p:nvSpPr>
        <p:spPr>
          <a:xfrm>
            <a:off x="571500" y="571500"/>
            <a:ext cx="1325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D77"/>
              </a:buClr>
              <a:buSzPts val="3600"/>
              <a:buFont typeface="Inter"/>
              <a:buNone/>
            </a:pPr>
            <a:r>
              <a:rPr b="1" i="0" lang="en-US" sz="3600" u="none" cap="none" strike="noStrike">
                <a:solidFill>
                  <a:srgbClr val="006D77"/>
                </a:solidFill>
                <a:latin typeface="Inter"/>
                <a:ea typeface="Inter"/>
                <a:cs typeface="Inter"/>
                <a:sym typeface="Inter"/>
              </a:rPr>
              <a:t>The Challenge of Multiple Logins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71500" y="1181100"/>
            <a:ext cx="13258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Fragmentation leads to security vulnerabilities and operational inefficiency.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952500" y="1943100"/>
            <a:ext cx="4914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Password </a:t>
            </a:r>
            <a:r>
              <a:rPr b="1" lang="en-US" sz="1800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Management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952500" y="2286000"/>
            <a:ext cx="4914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Inter"/>
              <a:buNone/>
            </a:pP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User need to manage extra password, security issue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952500" y="3124200"/>
            <a:ext cx="589788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Technical Complexity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952500" y="3467100"/>
            <a:ext cx="4914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Each application requires independent management of sessions, user storage, and security logic.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952500" y="4305300"/>
            <a:ext cx="589788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Access Governance Risk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952500" y="4648200"/>
            <a:ext cx="4914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Difficult to sync roles/permissions or revoke access instantly across disparate user pools.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" name="Google Shape;29;p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58413" y="1919275"/>
            <a:ext cx="5553075" cy="362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33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" name="Google Shape;3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1672" y="1912527"/>
            <a:ext cx="6484660" cy="10539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7" name="Google Shape;3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2343" y="2093199"/>
            <a:ext cx="542016" cy="5674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" name="Google Shape;38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2791" y="2213647"/>
            <a:ext cx="301120" cy="3047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" name="Google Shape;39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1672" y="3147118"/>
            <a:ext cx="6484660" cy="10539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" name="Google Shape;40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2343" y="3327789"/>
            <a:ext cx="504376" cy="5674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1" name="Google Shape;41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2791" y="3448238"/>
            <a:ext cx="263480" cy="3047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" name="Google Shape;42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51672" y="4381709"/>
            <a:ext cx="6484660" cy="10539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" name="Google Shape;43;p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32343" y="4562380"/>
            <a:ext cx="542016" cy="5674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" name="Google Shape;44;p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52791" y="4682828"/>
            <a:ext cx="301120" cy="3047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5" name="Google Shape;45;p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51679" y="5897358"/>
            <a:ext cx="11288576" cy="5900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6" name="Google Shape;46;p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952453" y="6116140"/>
            <a:ext cx="150560" cy="1524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7" name="Google Shape;47;p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338826" y="6116140"/>
            <a:ext cx="150559" cy="152442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"/>
          <p:cNvSpPr/>
          <p:nvPr/>
        </p:nvSpPr>
        <p:spPr>
          <a:xfrm>
            <a:off x="451679" y="451679"/>
            <a:ext cx="13546291" cy="457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D77"/>
              </a:buClr>
              <a:buSzPts val="3600"/>
              <a:buFont typeface="Inter"/>
              <a:buNone/>
            </a:pPr>
            <a:r>
              <a:rPr b="1" i="0" lang="en-US" sz="3600" u="none" cap="none" strike="noStrike">
                <a:solidFill>
                  <a:srgbClr val="006D77"/>
                </a:solidFill>
                <a:latin typeface="Inter"/>
                <a:ea typeface="Inter"/>
                <a:cs typeface="Inter"/>
                <a:sym typeface="Inter"/>
              </a:rPr>
              <a:t>The Solution: Single Sign-On (SSO)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51675" y="1029325"/>
            <a:ext cx="108474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800"/>
              <a:buFont typeface="Inter"/>
              <a:buNone/>
            </a:pPr>
            <a:r>
              <a:rPr lang="en-US" sz="1800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b="0" i="0" lang="en-US" sz="1800" u="none" cap="none" strike="noStrike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entralized authentication process that allows a user to access multiple applications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324918" y="2093199"/>
            <a:ext cx="6516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388"/>
              </a:lnSpc>
              <a:spcBef>
                <a:spcPts val="0"/>
              </a:spcBef>
              <a:spcAft>
                <a:spcPts val="0"/>
              </a:spcAft>
              <a:buClr>
                <a:srgbClr val="006D77"/>
              </a:buClr>
              <a:buSzPts val="1800"/>
              <a:buFont typeface="Inter"/>
              <a:buNone/>
            </a:pPr>
            <a:r>
              <a:rPr b="1" lang="en-US" sz="1800">
                <a:solidFill>
                  <a:srgbClr val="006D77"/>
                </a:solidFill>
                <a:latin typeface="Inter"/>
                <a:ea typeface="Inter"/>
                <a:cs typeface="Inter"/>
                <a:sym typeface="Inter"/>
              </a:rPr>
              <a:t>Centralized</a:t>
            </a:r>
            <a:r>
              <a:rPr b="1" i="0" lang="en-US" sz="1800" u="none" cap="none" strike="noStrike">
                <a:solidFill>
                  <a:srgbClr val="006D77"/>
                </a:solidFill>
                <a:latin typeface="Inter"/>
                <a:ea typeface="Inter"/>
                <a:cs typeface="Inter"/>
                <a:sym typeface="Inter"/>
              </a:rPr>
              <a:t> Authentication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1324918" y="2364207"/>
            <a:ext cx="54306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963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50"/>
              <a:buFont typeface="Inter"/>
              <a:buNone/>
            </a:pPr>
            <a:r>
              <a:rPr lang="en-US" sz="135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One main system checks who you are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1287279" y="3327789"/>
            <a:ext cx="54684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388"/>
              </a:lnSpc>
              <a:spcBef>
                <a:spcPts val="0"/>
              </a:spcBef>
              <a:spcAft>
                <a:spcPts val="0"/>
              </a:spcAft>
              <a:buClr>
                <a:srgbClr val="006D77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06D77"/>
                </a:solidFill>
                <a:latin typeface="Inter"/>
                <a:ea typeface="Inter"/>
                <a:cs typeface="Inter"/>
                <a:sym typeface="Inter"/>
              </a:rPr>
              <a:t>Seamless Access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1287279" y="3598796"/>
            <a:ext cx="54684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962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50"/>
              <a:buFont typeface="Inter"/>
              <a:buNone/>
            </a:pPr>
            <a:r>
              <a:rPr lang="en-US" sz="135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After logging in, you can open other apps without logging in again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1324918" y="4562380"/>
            <a:ext cx="6516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388"/>
              </a:lnSpc>
              <a:spcBef>
                <a:spcPts val="0"/>
              </a:spcBef>
              <a:spcAft>
                <a:spcPts val="0"/>
              </a:spcAft>
              <a:buClr>
                <a:srgbClr val="006D77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06D77"/>
                </a:solidFill>
                <a:latin typeface="Inter"/>
                <a:ea typeface="Inter"/>
                <a:cs typeface="Inter"/>
                <a:sym typeface="Inter"/>
              </a:rPr>
              <a:t>Centralized Control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1324918" y="4833388"/>
            <a:ext cx="54306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962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50"/>
              <a:buFont typeface="Inter"/>
              <a:buNone/>
            </a:pPr>
            <a:r>
              <a:rPr lang="en-US" sz="135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Security rules (like MFA, Password policy, Conditional access) are set in one place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632351" y="6086969"/>
            <a:ext cx="3757974" cy="210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Inter"/>
              <a:buNone/>
            </a:pPr>
            <a:r>
              <a:rPr b="0" i="1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"Login once -&gt; Access many apps"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7163237" y="6078030"/>
            <a:ext cx="2321633" cy="2286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Reduces Helpdesk Tickets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9549610" y="6078030"/>
            <a:ext cx="2411969" cy="2286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Enhances User Productivity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" name="Google Shape;59;p2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7026675" y="1897871"/>
            <a:ext cx="4602038" cy="301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5" name="Google Shape;6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02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6" name="Google Shape;6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935" y="400584"/>
            <a:ext cx="480701" cy="320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7" name="Google Shape;67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935" y="1723012"/>
            <a:ext cx="5326767" cy="19666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8" name="Google Shape;68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7308" y="1979386"/>
            <a:ext cx="664970" cy="6771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9" name="Google Shape;69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7542" y="2139620"/>
            <a:ext cx="344502" cy="3204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0" name="Google Shape;70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24076" y="1723012"/>
            <a:ext cx="5326892" cy="19666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1" name="Google Shape;71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80449" y="1979386"/>
            <a:ext cx="753098" cy="6771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2" name="Google Shape;72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640683" y="2139620"/>
            <a:ext cx="432631" cy="3204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3" name="Google Shape;73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40935" y="3946004"/>
            <a:ext cx="5326767" cy="19666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4" name="Google Shape;74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97308" y="4202378"/>
            <a:ext cx="705028" cy="6771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5" name="Google Shape;75;p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57542" y="4362611"/>
            <a:ext cx="384561" cy="3204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6" name="Google Shape;76;p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224076" y="3946004"/>
            <a:ext cx="5326892" cy="19666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7" name="Google Shape;77;p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480449" y="4202378"/>
            <a:ext cx="664970" cy="6771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8" name="Google Shape;78;p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640683" y="4362611"/>
            <a:ext cx="344502" cy="320467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3"/>
          <p:cNvSpPr/>
          <p:nvPr/>
        </p:nvSpPr>
        <p:spPr>
          <a:xfrm>
            <a:off x="640935" y="560818"/>
            <a:ext cx="13092041" cy="4571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D77"/>
              </a:buClr>
              <a:buSzPts val="3600"/>
              <a:buFont typeface="Inter"/>
              <a:buNone/>
            </a:pPr>
            <a:r>
              <a:rPr b="1" i="0" lang="en-US" sz="3600" u="none" cap="none" strike="noStrike">
                <a:solidFill>
                  <a:srgbClr val="006D77"/>
                </a:solidFill>
                <a:latin typeface="Inter"/>
                <a:ea typeface="Inter"/>
                <a:cs typeface="Inter"/>
                <a:sym typeface="Inter"/>
              </a:rPr>
              <a:t>Core SSO Architecture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640935" y="1082078"/>
            <a:ext cx="13092041" cy="2563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166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The four pillars of centralized identity management.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1754558" y="1979386"/>
            <a:ext cx="3956770" cy="2563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166"/>
              </a:lnSpc>
              <a:spcBef>
                <a:spcPts val="0"/>
              </a:spcBef>
              <a:spcAft>
                <a:spcPts val="0"/>
              </a:spcAft>
              <a:buClr>
                <a:srgbClr val="006D77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06D77"/>
                </a:solidFill>
                <a:latin typeface="Inter"/>
                <a:ea typeface="Inter"/>
                <a:cs typeface="Inter"/>
                <a:sym typeface="Inter"/>
              </a:rPr>
              <a:t>User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1754558" y="2331900"/>
            <a:ext cx="3956770" cy="835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18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Inter"/>
              <a:buNone/>
            </a:pP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person trying to sign in and use an app.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7425828" y="1979386"/>
            <a:ext cx="4642519" cy="2563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166"/>
              </a:lnSpc>
              <a:spcBef>
                <a:spcPts val="0"/>
              </a:spcBef>
              <a:spcAft>
                <a:spcPts val="0"/>
              </a:spcAft>
              <a:buClr>
                <a:srgbClr val="006D77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06D77"/>
                </a:solidFill>
                <a:latin typeface="Inter"/>
                <a:ea typeface="Inter"/>
                <a:cs typeface="Inter"/>
                <a:sym typeface="Inter"/>
              </a:rPr>
              <a:t>Application (SP)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7425828" y="2331900"/>
            <a:ext cx="3868766" cy="835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18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Inter"/>
              <a:buNone/>
            </a:pP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application the user want to use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1794617" y="4202378"/>
            <a:ext cx="4700054" cy="2563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166"/>
              </a:lnSpc>
              <a:spcBef>
                <a:spcPts val="0"/>
              </a:spcBef>
              <a:spcAft>
                <a:spcPts val="0"/>
              </a:spcAft>
              <a:buClr>
                <a:srgbClr val="006D77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06D77"/>
                </a:solidFill>
                <a:latin typeface="Inter"/>
                <a:ea typeface="Inter"/>
                <a:cs typeface="Inter"/>
                <a:sym typeface="Inter"/>
              </a:rPr>
              <a:t>Identity Provider (IdP)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1794617" y="4554892"/>
            <a:ext cx="3916712" cy="835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18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Inter"/>
              <a:buNone/>
            </a:pP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central login service (like Azure Entra ID).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7337699" y="4202378"/>
            <a:ext cx="3956895" cy="2563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166"/>
              </a:lnSpc>
              <a:spcBef>
                <a:spcPts val="0"/>
              </a:spcBef>
              <a:spcAft>
                <a:spcPts val="0"/>
              </a:spcAft>
              <a:buClr>
                <a:srgbClr val="006D77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06D77"/>
                </a:solidFill>
                <a:latin typeface="Inter"/>
                <a:ea typeface="Inter"/>
                <a:cs typeface="Inter"/>
                <a:sym typeface="Inter"/>
              </a:rPr>
              <a:t>Tokens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7337699" y="4554892"/>
            <a:ext cx="3956895" cy="835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18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Inter"/>
              <a:buNone/>
            </a:pP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Secure digital “passes” that prove who the user is and what they can access.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4" name="Google Shape;9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5" name="Google Shape;9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3883" y="443883"/>
            <a:ext cx="739806" cy="443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6" name="Google Shape;9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3883" y="1714847"/>
            <a:ext cx="11304233" cy="8285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7" name="Google Shape;97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437" y="1900492"/>
            <a:ext cx="458680" cy="4571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8" name="Google Shape;98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3883" y="3898992"/>
            <a:ext cx="5563340" cy="11688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9" name="Google Shape;99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1437" y="4106138"/>
            <a:ext cx="355107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0" name="Google Shape;100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184777" y="3898992"/>
            <a:ext cx="5563340" cy="11688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1" name="Google Shape;101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362330" y="4106138"/>
            <a:ext cx="355107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2" name="Google Shape;102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43883" y="5245439"/>
            <a:ext cx="5563340" cy="11688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3" name="Google Shape;103;p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21437" y="5452584"/>
            <a:ext cx="318117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4" name="Google Shape;104;p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184777" y="5245439"/>
            <a:ext cx="5563340" cy="11688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5" name="Google Shape;105;p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362330" y="5452584"/>
            <a:ext cx="288524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4"/>
          <p:cNvSpPr/>
          <p:nvPr/>
        </p:nvSpPr>
        <p:spPr>
          <a:xfrm>
            <a:off x="443883" y="665825"/>
            <a:ext cx="13565080" cy="4571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D77"/>
              </a:buClr>
              <a:buSzPts val="3600"/>
              <a:buFont typeface="Inter"/>
              <a:buNone/>
            </a:pPr>
            <a:r>
              <a:rPr b="1" i="0" lang="en-US" sz="3600" u="none" cap="none" strike="noStrike">
                <a:solidFill>
                  <a:srgbClr val="006D77"/>
                </a:solidFill>
                <a:latin typeface="Inter"/>
                <a:ea typeface="Inter"/>
                <a:cs typeface="Inter"/>
                <a:sym typeface="Inter"/>
              </a:rPr>
              <a:t>Identity Provider (IdP) - </a:t>
            </a:r>
            <a:r>
              <a:rPr b="1" lang="en-US" sz="3600">
                <a:solidFill>
                  <a:srgbClr val="006D77"/>
                </a:solidFill>
                <a:latin typeface="Inter"/>
                <a:ea typeface="Inter"/>
                <a:cs typeface="Inter"/>
                <a:sym typeface="Inter"/>
              </a:rPr>
              <a:t>Azure Entra ID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443883" y="1182187"/>
            <a:ext cx="13565080" cy="236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555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The Central Authority in SSO Ecosystems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1257670" y="1892400"/>
            <a:ext cx="6525087" cy="266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2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Inter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Azure Entra ID / </a:t>
            </a:r>
            <a:r>
              <a:rPr b="1" i="0" lang="en-US" sz="22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B2C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1257670" y="2158730"/>
            <a:ext cx="6525000" cy="2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8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Inter"/>
              <a:buNone/>
            </a:pPr>
            <a:r>
              <a:rPr b="0" i="1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"Single Source of Truth" for authentication and authorization.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1124505" y="4076546"/>
            <a:ext cx="5646300" cy="2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733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User Identity Management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1124505" y="4342876"/>
            <a:ext cx="47052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Centralized user pool management, supporting full identity </a:t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like create/update/disable them centrally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6865398" y="4076546"/>
            <a:ext cx="5646300" cy="2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733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Secure Authentication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6865398" y="4342876"/>
            <a:ext cx="47052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Provides MFA, passwordless login (FIDO2), and biometric options to verify identities securely.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1087515" y="5422992"/>
            <a:ext cx="4742100" cy="2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733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Token Issuance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1087515" y="5689322"/>
            <a:ext cx="47421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Generates</a:t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JWTs (ID and Access Tokens) used by applications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6798815" y="5422992"/>
            <a:ext cx="5726100" cy="2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733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Policy Enforcement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6798815" y="5689322"/>
            <a:ext cx="47718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This is Azure deciding if login should be allowed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based on location, device, and behavior.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3" name="Google Shape;12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6"/>
          <p:cNvSpPr/>
          <p:nvPr/>
        </p:nvSpPr>
        <p:spPr>
          <a:xfrm>
            <a:off x="571500" y="381000"/>
            <a:ext cx="11049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06D77"/>
              </a:buClr>
              <a:buSzPts val="2700"/>
              <a:buFont typeface="Inter"/>
              <a:buNone/>
            </a:pPr>
            <a:r>
              <a:rPr b="1" i="0" lang="en-US" sz="2700" u="none" cap="none" strike="noStrike">
                <a:solidFill>
                  <a:srgbClr val="006D77"/>
                </a:solidFill>
                <a:latin typeface="Inter"/>
                <a:ea typeface="Inter"/>
                <a:cs typeface="Inter"/>
                <a:sym typeface="Inter"/>
              </a:rPr>
              <a:t>Authorization Code Flow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571500" y="838200"/>
            <a:ext cx="11049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THE GOLD STANDARD FOR WEB &amp; MOBILE APPLICATIONS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2827250"/>
            <a:ext cx="11239749" cy="356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2" name="Google Shape;132;g3bd8bc91e4c_0_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3bd8bc91e4c_0_48"/>
          <p:cNvSpPr/>
          <p:nvPr/>
        </p:nvSpPr>
        <p:spPr>
          <a:xfrm>
            <a:off x="571500" y="381000"/>
            <a:ext cx="11049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06D77"/>
              </a:buClr>
              <a:buSzPts val="2700"/>
              <a:buFont typeface="Inter"/>
              <a:buNone/>
            </a:pPr>
            <a:r>
              <a:rPr b="1" lang="en-US" sz="2700">
                <a:solidFill>
                  <a:srgbClr val="006D77"/>
                </a:solidFill>
                <a:latin typeface="Inter"/>
                <a:ea typeface="Inter"/>
                <a:cs typeface="Inter"/>
                <a:sym typeface="Inter"/>
              </a:rPr>
              <a:t>Client Credentials Flow</a:t>
            </a:r>
            <a:endParaRPr b="1" sz="2700">
              <a:solidFill>
                <a:srgbClr val="006D7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06D77"/>
              </a:buClr>
              <a:buSzPts val="2700"/>
              <a:buFont typeface="Inter"/>
              <a:buNone/>
            </a:pPr>
            <a:r>
              <a:t/>
            </a:r>
            <a:endParaRPr b="1" sz="2700">
              <a:solidFill>
                <a:srgbClr val="006D7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" name="Google Shape;134;g3bd8bc91e4c_0_48"/>
          <p:cNvSpPr/>
          <p:nvPr/>
        </p:nvSpPr>
        <p:spPr>
          <a:xfrm>
            <a:off x="571500" y="838200"/>
            <a:ext cx="11049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500"/>
              <a:buFont typeface="Inter"/>
              <a:buNone/>
            </a:pPr>
            <a:r>
              <a:rPr lang="en-US" sz="1500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Secure Machine-to-Machine (M2M) Authentication</a:t>
            </a:r>
            <a:endParaRPr sz="1500">
              <a:solidFill>
                <a:srgbClr val="083D7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500"/>
              <a:buFont typeface="Inter"/>
              <a:buNone/>
            </a:pPr>
            <a:r>
              <a:t/>
            </a:r>
            <a:endParaRPr sz="1500">
              <a:solidFill>
                <a:srgbClr val="083D7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35" name="Google Shape;135;g3bd8bc91e4c_0_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2101525"/>
            <a:ext cx="11239749" cy="356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1" name="Google Shape;14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2" name="Google Shape;14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1000"/>
            <a:ext cx="57150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3" name="Google Shape;143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885950"/>
            <a:ext cx="6318198" cy="1581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4" name="Google Shape;144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6300" y="2228850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5" name="Google Shape;145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277177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6" name="Google Shape;146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33500" y="2686050"/>
            <a:ext cx="5251399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7"/>
          <p:cNvSpPr/>
          <p:nvPr/>
        </p:nvSpPr>
        <p:spPr>
          <a:xfrm>
            <a:off x="571500" y="590550"/>
            <a:ext cx="1325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D77"/>
              </a:buClr>
              <a:buSzPts val="3600"/>
              <a:buFont typeface="Inter"/>
              <a:buNone/>
            </a:pPr>
            <a:r>
              <a:rPr b="1" i="0" lang="en-US" sz="3600" u="none" cap="none" strike="noStrike">
                <a:solidFill>
                  <a:srgbClr val="006D77"/>
                </a:solidFill>
                <a:latin typeface="Inter"/>
                <a:ea typeface="Inter"/>
                <a:cs typeface="Inter"/>
                <a:sym typeface="Inter"/>
              </a:rPr>
              <a:t>Client Credentials Flow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571500" y="1200150"/>
            <a:ext cx="13258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Secure Machine-to-Machine (M2M) Authentication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1171575" y="2190750"/>
            <a:ext cx="5708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Authentication Process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995363" y="277177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1447800" y="2686050"/>
            <a:ext cx="5251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Identity Request:</a:t>
            </a:r>
            <a:r>
              <a:rPr b="0" i="0" lang="en-US" sz="1200" u="none" cap="none" strike="noStrike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 Client sends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7" name="Google Shape;15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669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8" name="Google Shape;15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1000"/>
            <a:ext cx="7620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9" name="Google Shape;15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562100"/>
            <a:ext cx="2590800" cy="17549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0" name="Google Shape;160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220980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1" name="Google Shape;16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90900" y="1562100"/>
            <a:ext cx="2590800" cy="17549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2" name="Google Shape;162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81400" y="220980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3" name="Google Shape;16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0300" y="1562100"/>
            <a:ext cx="2590800" cy="17549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4" name="Google Shape;164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00800" y="2209800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5" name="Google Shape;165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029700" y="1562100"/>
            <a:ext cx="2590800" cy="17549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6" name="Google Shape;166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220200" y="22098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7" name="Google Shape;167;p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71500" y="3698081"/>
            <a:ext cx="5334000" cy="2590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8" name="Google Shape;168;p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744938" y="4345781"/>
            <a:ext cx="931962" cy="2323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9" name="Google Shape;169;p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199186" y="4730502"/>
            <a:ext cx="1477714" cy="2323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0" name="Google Shape;170;p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588966" y="5115223"/>
            <a:ext cx="1087934" cy="2323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1" name="Google Shape;171;p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433143" y="5499943"/>
            <a:ext cx="1243757" cy="2323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2" name="Google Shape;172;p8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286500" y="4117181"/>
            <a:ext cx="533400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3" name="Google Shape;173;p8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400800" y="4269581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4" name="Google Shape;174;p8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6286500" y="4993481"/>
            <a:ext cx="53340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5" name="Google Shape;175;p8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6400800" y="5145881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6" name="Google Shape;176;p8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6286500" y="5717381"/>
            <a:ext cx="53340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7" name="Google Shape;177;p8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6400800" y="5869781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8"/>
          <p:cNvSpPr/>
          <p:nvPr/>
        </p:nvSpPr>
        <p:spPr>
          <a:xfrm>
            <a:off x="571500" y="533400"/>
            <a:ext cx="11049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06D77"/>
              </a:buClr>
              <a:buSzPts val="2700"/>
              <a:buFont typeface="Inter"/>
              <a:buNone/>
            </a:pPr>
            <a:r>
              <a:rPr b="1" i="0" lang="en-US" sz="2700" u="none" cap="none" strike="noStrike">
                <a:solidFill>
                  <a:srgbClr val="006D77"/>
                </a:solidFill>
                <a:latin typeface="Inter"/>
                <a:ea typeface="Inter"/>
                <a:cs typeface="Inter"/>
                <a:sym typeface="Inter"/>
              </a:rPr>
              <a:t>On-Behalf-Of (OBO) Flow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571500" y="990600"/>
            <a:ext cx="11049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Preserving User Identity Across Service Chains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762000" y="1752600"/>
            <a:ext cx="2209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9578"/>
              </a:buClr>
              <a:buSzPts val="2250"/>
              <a:buFont typeface="Inter"/>
              <a:buNone/>
            </a:pPr>
            <a:r>
              <a:rPr b="1" i="0" lang="en-US" sz="2250" u="none" cap="none" strike="noStrike">
                <a:solidFill>
                  <a:srgbClr val="E29578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990600" y="2171700"/>
            <a:ext cx="2209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Initial Call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762000" y="2476500"/>
            <a:ext cx="22098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User authenticates and calls </a:t>
            </a: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API A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using an access token.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3581400" y="1752600"/>
            <a:ext cx="2209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9578"/>
              </a:buClr>
              <a:buSzPts val="2250"/>
              <a:buFont typeface="Inter"/>
              <a:buNone/>
            </a:pPr>
            <a:r>
              <a:rPr b="1" i="0" lang="en-US" sz="2250" u="none" cap="none" strike="noStrike">
                <a:solidFill>
                  <a:srgbClr val="E29578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3810000" y="2171700"/>
            <a:ext cx="2651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Token Exchange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3581400" y="2476500"/>
            <a:ext cx="2209800" cy="6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API A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requests a new token from the IdP using the original user token as assertion.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6400800" y="1752600"/>
            <a:ext cx="2209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9578"/>
              </a:buClr>
              <a:buSzPts val="2250"/>
              <a:buFont typeface="Inter"/>
              <a:buNone/>
            </a:pPr>
            <a:r>
              <a:rPr b="1" i="0" lang="en-US" sz="2250" u="none" cap="none" strike="noStrike">
                <a:solidFill>
                  <a:srgbClr val="E29578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6591300" y="2171700"/>
            <a:ext cx="2209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User Context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6400800" y="2476500"/>
            <a:ext cx="2209800" cy="6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IdP issues a new token for </a:t>
            </a: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API B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maintaining the user's identity/scopes.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9220200" y="1752600"/>
            <a:ext cx="2209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9578"/>
              </a:buClr>
              <a:buSzPts val="2250"/>
              <a:buFont typeface="Inter"/>
              <a:buNone/>
            </a:pPr>
            <a:r>
              <a:rPr b="1" i="0" lang="en-US" sz="2250" u="none" cap="none" strike="noStrike">
                <a:solidFill>
                  <a:srgbClr val="E29578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9429750" y="2171700"/>
            <a:ext cx="2651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Downstream Call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9220200" y="2476500"/>
            <a:ext cx="22098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476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API A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uses the new token to call </a:t>
            </a: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API B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securely on the user's behalf.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800100" y="3926681"/>
            <a:ext cx="4876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006D77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006D77"/>
                </a:solidFill>
                <a:latin typeface="Inter"/>
                <a:ea typeface="Inter"/>
                <a:cs typeface="Inter"/>
                <a:sym typeface="Inter"/>
              </a:rPr>
              <a:t>CRITICAL PARAMETERS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800100" y="4366617"/>
            <a:ext cx="857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Grant Type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4821138" y="4345781"/>
            <a:ext cx="1118400" cy="2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6D77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006D77"/>
                </a:solidFill>
                <a:latin typeface="Arial"/>
                <a:ea typeface="Arial"/>
                <a:cs typeface="Arial"/>
                <a:sym typeface="Arial"/>
              </a:rPr>
              <a:t>jwt-bearer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800100" y="4751338"/>
            <a:ext cx="765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Assertion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4275386" y="4730502"/>
            <a:ext cx="1773300" cy="2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6D77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006D77"/>
                </a:solidFill>
                <a:latin typeface="Arial"/>
                <a:ea typeface="Arial"/>
                <a:cs typeface="Arial"/>
                <a:sym typeface="Arial"/>
              </a:rPr>
              <a:t>User Access Token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800100" y="5136059"/>
            <a:ext cx="117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Requested Use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4665166" y="5115223"/>
            <a:ext cx="1305600" cy="2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6D77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006D77"/>
                </a:solidFill>
                <a:latin typeface="Arial"/>
                <a:ea typeface="Arial"/>
                <a:cs typeface="Arial"/>
                <a:sym typeface="Arial"/>
              </a:rPr>
              <a:t>on_behalf_of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800100" y="5520779"/>
            <a:ext cx="880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Client Auth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4509343" y="5499943"/>
            <a:ext cx="1492500" cy="2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6D77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006D77"/>
                </a:solidFill>
                <a:latin typeface="Arial"/>
                <a:ea typeface="Arial"/>
                <a:cs typeface="Arial"/>
                <a:sym typeface="Arial"/>
              </a:rPr>
              <a:t>Secret or Cert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6286500" y="3698081"/>
            <a:ext cx="5334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006D77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006D77"/>
                </a:solidFill>
                <a:latin typeface="Inter"/>
                <a:ea typeface="Inter"/>
                <a:cs typeface="Inter"/>
                <a:sym typeface="Inter"/>
              </a:rPr>
              <a:t>SECURITY CONSIDERATIONS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6705600" y="4231481"/>
            <a:ext cx="4800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Conditional Access Failure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6705600" y="4421981"/>
            <a:ext cx="4800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May fail if downstream APIs require MFA or device compliance not met by the initial token.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6743700" y="5107781"/>
            <a:ext cx="4505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User Principals Only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6743700" y="5298281"/>
            <a:ext cx="54063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OBO flow is strictly for user-context operations; does not support service principals.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6705600" y="5831681"/>
            <a:ext cx="4219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Stateless Identity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6705600" y="6022181"/>
            <a:ext cx="50634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DBEAFE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DBEAFE"/>
                </a:solidFill>
                <a:latin typeface="Inter"/>
                <a:ea typeface="Inter"/>
                <a:cs typeface="Inter"/>
                <a:sym typeface="Inter"/>
              </a:rPr>
              <a:t>Preserves auditability and security across layered microservice architectures.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3" name="Google Shape;21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19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4" name="Google Shape;21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5325" y="296883"/>
            <a:ext cx="593766" cy="445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5" name="Google Shape;215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5325" y="1511089"/>
            <a:ext cx="5502196" cy="42276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6" name="Google Shape;216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2831" y="1748595"/>
            <a:ext cx="445325" cy="44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7" name="Google Shape;217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0763" y="1852504"/>
            <a:ext cx="289461" cy="2375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8" name="Google Shape;218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905868" y="1748595"/>
            <a:ext cx="1804144" cy="259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9" name="Google Shape;219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82831" y="4721717"/>
            <a:ext cx="2454157" cy="3303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0" name="Google Shape;220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71896" y="4810782"/>
            <a:ext cx="192974" cy="1522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1" name="Google Shape;221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255741" y="4721717"/>
            <a:ext cx="2454272" cy="3303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2" name="Google Shape;222;p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344806" y="4810782"/>
            <a:ext cx="155864" cy="1522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3" name="Google Shape;223;p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82831" y="5170869"/>
            <a:ext cx="2454157" cy="3303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4" name="Google Shape;224;p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71896" y="5259934"/>
            <a:ext cx="192974" cy="1522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5" name="Google Shape;225;p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255741" y="5170869"/>
            <a:ext cx="2454272" cy="3303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6" name="Google Shape;226;p9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3344806" y="5259934"/>
            <a:ext cx="192974" cy="1522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7" name="Google Shape;227;p9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244403" y="1511089"/>
            <a:ext cx="5502196" cy="42276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8" name="Google Shape;228;p9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6481909" y="1748595"/>
            <a:ext cx="445325" cy="44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9" name="Google Shape;229;p9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6589529" y="1852504"/>
            <a:ext cx="230085" cy="2375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0" name="Google Shape;230;p9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0263806" y="1748595"/>
            <a:ext cx="1245286" cy="259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1" name="Google Shape;231;p9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6481909" y="4212841"/>
            <a:ext cx="5027185" cy="5848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2" name="Google Shape;232;p9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6600662" y="4386448"/>
            <a:ext cx="230085" cy="2375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3" name="Google Shape;233;p9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11234475" y="4429125"/>
            <a:ext cx="155864" cy="1522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4" name="Google Shape;234;p9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6481909" y="4916431"/>
            <a:ext cx="5027185" cy="5848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5" name="Google Shape;235;p9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6600662" y="5090038"/>
            <a:ext cx="230085" cy="2375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6" name="Google Shape;236;p9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11234475" y="5132715"/>
            <a:ext cx="155864" cy="1522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7" name="Google Shape;237;p9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445325" y="5976280"/>
            <a:ext cx="11301272" cy="584837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9"/>
          <p:cNvSpPr/>
          <p:nvPr/>
        </p:nvSpPr>
        <p:spPr>
          <a:xfrm>
            <a:off x="445325" y="460169"/>
            <a:ext cx="13561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D77"/>
              </a:buClr>
              <a:buSzPts val="3600"/>
              <a:buFont typeface="Inter"/>
              <a:buNone/>
            </a:pPr>
            <a:r>
              <a:rPr b="1" i="0" lang="en-US" sz="3600" u="none" cap="none" strike="noStrike">
                <a:solidFill>
                  <a:srgbClr val="006D77"/>
                </a:solidFill>
                <a:latin typeface="Inter"/>
                <a:ea typeface="Inter"/>
                <a:cs typeface="Inter"/>
                <a:sym typeface="Inter"/>
              </a:rPr>
              <a:t>Real-World Use Cases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445325" y="976699"/>
            <a:ext cx="13561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888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How Single Sign-On scales across enterprise and technical ecosystems.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3994933" y="1748595"/>
            <a:ext cx="21651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6D77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006D77"/>
                </a:solidFill>
                <a:latin typeface="Inter"/>
                <a:ea typeface="Inter"/>
                <a:cs typeface="Inter"/>
                <a:sym typeface="Inter"/>
              </a:rPr>
              <a:t>ENTERPRISE IDENTITY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682831" y="2461115"/>
            <a:ext cx="60327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511"/>
              </a:lnSpc>
              <a:spcBef>
                <a:spcPts val="0"/>
              </a:spcBef>
              <a:spcAft>
                <a:spcPts val="0"/>
              </a:spcAft>
              <a:buClr>
                <a:srgbClr val="006D77"/>
              </a:buClr>
              <a:buSzPts val="2250"/>
              <a:buFont typeface="Inter"/>
              <a:buNone/>
            </a:pPr>
            <a:r>
              <a:rPr b="1" i="0" lang="en-US" sz="2250" u="none" cap="none" strike="noStrike">
                <a:solidFill>
                  <a:srgbClr val="006D77"/>
                </a:solidFill>
                <a:latin typeface="Inter"/>
                <a:ea typeface="Inter"/>
                <a:cs typeface="Inter"/>
                <a:sym typeface="Inter"/>
              </a:rPr>
              <a:t>Internal Applications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682831" y="2847063"/>
            <a:ext cx="5027100" cy="8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18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Employees navigate dozens of internal tools daily. SSO centralizes access to high-frequency systems while ensuring strict governance.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1053935" y="4812638"/>
            <a:ext cx="23067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333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HR &amp; Finance (Workday, SAP)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3589734" y="4812638"/>
            <a:ext cx="20574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333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Project Tools (Jira, Asana)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1053935" y="5261789"/>
            <a:ext cx="22356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333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Collaboration (Teams, Slack)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3626845" y="5261789"/>
            <a:ext cx="20574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333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Instant Access Revocation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10352870" y="1748595"/>
            <a:ext cx="14943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6D77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006D77"/>
                </a:solidFill>
                <a:latin typeface="Inter"/>
                <a:ea typeface="Inter"/>
                <a:cs typeface="Inter"/>
                <a:sym typeface="Inter"/>
              </a:rPr>
              <a:t>CLOUD NATIVE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6481909" y="2461115"/>
            <a:ext cx="60327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511"/>
              </a:lnSpc>
              <a:spcBef>
                <a:spcPts val="0"/>
              </a:spcBef>
              <a:spcAft>
                <a:spcPts val="0"/>
              </a:spcAft>
              <a:buClr>
                <a:srgbClr val="006D77"/>
              </a:buClr>
              <a:buSzPts val="2250"/>
              <a:buFont typeface="Inter"/>
              <a:buNone/>
            </a:pPr>
            <a:r>
              <a:rPr b="1" i="0" lang="en-US" sz="2250" u="none" cap="none" strike="noStrike">
                <a:solidFill>
                  <a:srgbClr val="006D77"/>
                </a:solidFill>
                <a:latin typeface="Inter"/>
                <a:ea typeface="Inter"/>
                <a:cs typeface="Inter"/>
                <a:sym typeface="Inter"/>
              </a:rPr>
              <a:t>Microservices &amp; APIs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6481909" y="2847063"/>
            <a:ext cx="5027100" cy="8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18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Decomposed services require consistent security. SSO enables stateless communication and preserves identity across API chains.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6949500" y="4331594"/>
            <a:ext cx="2075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Streaming Platforms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6949500" y="4560171"/>
            <a:ext cx="20751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888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Inter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e.g., Netflix profile/content sync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6949500" y="5035184"/>
            <a:ext cx="2386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83D77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083D77"/>
                </a:solidFill>
                <a:latin typeface="Inter"/>
                <a:ea typeface="Inter"/>
                <a:cs typeface="Inter"/>
                <a:sym typeface="Inter"/>
              </a:rPr>
              <a:t>Ride-Sharing Ecosystems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6949500" y="5263761"/>
            <a:ext cx="23868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888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Inter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e.g., Uber rides, delivery, &amp; payments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623455" y="6164731"/>
            <a:ext cx="10002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1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Inter"/>
              <a:buNone/>
            </a:pPr>
            <a:r>
              <a:rPr b="0" i="1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"SSO enables stateless authentication via JWT tokens, reducing server load and improving scalability."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8736203" y="6095033"/>
            <a:ext cx="28323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388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ARCHITECTURE TIP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8736203" y="6228631"/>
            <a:ext cx="28323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9578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E29578"/>
                </a:solidFill>
                <a:latin typeface="Inter"/>
                <a:ea typeface="Inter"/>
                <a:cs typeface="Inter"/>
                <a:sym typeface="Inter"/>
              </a:rPr>
              <a:t>Centralized Policy Enforcement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2" name="Google Shape;26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16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3" name="Google Shape;26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958" y="1068921"/>
            <a:ext cx="772732" cy="482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4" name="Google Shape;264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2958" y="1503583"/>
            <a:ext cx="3570240" cy="34547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5" name="Google Shape;265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4930" y="1825555"/>
            <a:ext cx="547352" cy="5747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6" name="Google Shape;266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3718" y="1954344"/>
            <a:ext cx="289775" cy="289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7" name="Google Shape;267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4930" y="2641804"/>
            <a:ext cx="152937" cy="171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8" name="Google Shape;268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4930" y="3221353"/>
            <a:ext cx="152937" cy="171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9" name="Google Shape;269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4930" y="3575522"/>
            <a:ext cx="152937" cy="171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0" name="Google Shape;270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310775" y="1503583"/>
            <a:ext cx="3570240" cy="34547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1" name="Google Shape;271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32747" y="1825555"/>
            <a:ext cx="547352" cy="5747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2" name="Google Shape;272;p1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61536" y="1954344"/>
            <a:ext cx="289774" cy="289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3" name="Google Shape;273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32747" y="2641804"/>
            <a:ext cx="152937" cy="171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4" name="Google Shape;274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32747" y="3221353"/>
            <a:ext cx="152937" cy="171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5" name="Google Shape;275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32747" y="3800903"/>
            <a:ext cx="152937" cy="171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6" name="Google Shape;276;p1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138593" y="1503583"/>
            <a:ext cx="3570366" cy="34547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7" name="Google Shape;277;p1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460564" y="1825555"/>
            <a:ext cx="547352" cy="5747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8" name="Google Shape;278;p1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589353" y="1954344"/>
            <a:ext cx="289775" cy="289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9" name="Google Shape;279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60564" y="2641804"/>
            <a:ext cx="152937" cy="171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0" name="Google Shape;280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60564" y="3221353"/>
            <a:ext cx="152937" cy="171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1" name="Google Shape;281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60564" y="3800903"/>
            <a:ext cx="152937" cy="171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2" name="Google Shape;282;p1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82958" y="5344732"/>
            <a:ext cx="11226001" cy="10303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3" name="Google Shape;283;p10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007666" y="5715000"/>
            <a:ext cx="289775" cy="289775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0"/>
          <p:cNvSpPr/>
          <p:nvPr/>
        </p:nvSpPr>
        <p:spPr>
          <a:xfrm>
            <a:off x="482958" y="482958"/>
            <a:ext cx="13471201" cy="4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D77"/>
              </a:buClr>
              <a:buSzPts val="3600"/>
              <a:buFont typeface="Inter"/>
              <a:buNone/>
            </a:pPr>
            <a:r>
              <a:rPr b="1" i="0" lang="en-US" sz="3600" u="none" cap="none" strike="noStrike">
                <a:solidFill>
                  <a:srgbClr val="006D77"/>
                </a:solidFill>
                <a:latin typeface="Inter"/>
                <a:ea typeface="Inter"/>
                <a:cs typeface="Inter"/>
                <a:sym typeface="Inter"/>
              </a:rPr>
              <a:t>Key Benefits of SSO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1481070" y="1984151"/>
            <a:ext cx="1815921" cy="257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666"/>
              </a:lnSpc>
              <a:spcBef>
                <a:spcPts val="0"/>
              </a:spcBef>
              <a:spcAft>
                <a:spcPts val="0"/>
              </a:spcAft>
              <a:buClr>
                <a:srgbClr val="006D77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06D77"/>
                </a:solidFill>
                <a:latin typeface="Inter"/>
                <a:ea typeface="Inter"/>
                <a:cs typeface="Inter"/>
                <a:sym typeface="Inter"/>
              </a:rPr>
              <a:t>Enhanced UX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1022261" y="2593508"/>
            <a:ext cx="2708965" cy="450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81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Eliminates password fatigue and friction.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1022261" y="3173057"/>
            <a:ext cx="3110248" cy="225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81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Seamless cross-app navigation.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1022261" y="3527227"/>
            <a:ext cx="2708965" cy="450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81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Higher user satisfaction and productivity.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5308888" y="1984151"/>
            <a:ext cx="2192628" cy="257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666"/>
              </a:lnSpc>
              <a:spcBef>
                <a:spcPts val="0"/>
              </a:spcBef>
              <a:spcAft>
                <a:spcPts val="0"/>
              </a:spcAft>
              <a:buClr>
                <a:srgbClr val="006D77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06D77"/>
                </a:solidFill>
                <a:latin typeface="Inter"/>
                <a:ea typeface="Inter"/>
                <a:cs typeface="Inter"/>
                <a:sym typeface="Inter"/>
              </a:rPr>
              <a:t>Unified Security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4850078" y="2593508"/>
            <a:ext cx="2708965" cy="450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81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Centralized MFA &amp; Conditional Access.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4850078" y="3173057"/>
            <a:ext cx="2708965" cy="450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81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Instant access revocation (offboarding).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4850078" y="3752607"/>
            <a:ext cx="2708965" cy="450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81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Reduced attack surface (no local DBs).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9136705" y="1984151"/>
            <a:ext cx="1709671" cy="257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666"/>
              </a:lnSpc>
              <a:spcBef>
                <a:spcPts val="0"/>
              </a:spcBef>
              <a:spcAft>
                <a:spcPts val="0"/>
              </a:spcAft>
              <a:buClr>
                <a:srgbClr val="006D77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006D77"/>
                </a:solidFill>
                <a:latin typeface="Inter"/>
                <a:ea typeface="Inter"/>
                <a:cs typeface="Inter"/>
                <a:sym typeface="Inter"/>
              </a:rPr>
              <a:t>Easy Scaling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8677895" y="2593508"/>
            <a:ext cx="2709091" cy="450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81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Sync user pools across 100s of apps.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8677895" y="3173057"/>
            <a:ext cx="2709091" cy="450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81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Rapid onboarding for new services.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8677895" y="3752607"/>
            <a:ext cx="2709091" cy="450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81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Consistent security posture as you grow.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676141" y="5666704"/>
            <a:ext cx="5610359" cy="1609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761"/>
              </a:lnSpc>
              <a:spcBef>
                <a:spcPts val="0"/>
              </a:spcBef>
              <a:spcAft>
                <a:spcPts val="0"/>
              </a:spcAft>
              <a:buClr>
                <a:srgbClr val="E29578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E29578"/>
                </a:solidFill>
                <a:latin typeface="Inter"/>
                <a:ea typeface="Inter"/>
                <a:cs typeface="Inter"/>
                <a:sym typeface="Inter"/>
              </a:rPr>
              <a:t>EFFICIENCY STAT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676141" y="5827690"/>
            <a:ext cx="6732431" cy="225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SSO reduces the average number of passwords per employee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7029676" y="5634507"/>
            <a:ext cx="347730" cy="321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88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Inter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6864666" y="5956479"/>
            <a:ext cx="743755" cy="1287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Before SSO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9001754" y="5634507"/>
            <a:ext cx="173865" cy="321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888"/>
              </a:lnSpc>
              <a:spcBef>
                <a:spcPts val="0"/>
              </a:spcBef>
              <a:spcAft>
                <a:spcPts val="0"/>
              </a:spcAft>
              <a:buClr>
                <a:srgbClr val="E29578"/>
              </a:buClr>
              <a:buSzPts val="2700"/>
              <a:buFont typeface="Inter"/>
              <a:buNone/>
            </a:pPr>
            <a:r>
              <a:rPr b="1" i="0" lang="en-US" sz="2700" u="none" cap="none" strike="noStrike">
                <a:solidFill>
                  <a:srgbClr val="E29578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8820645" y="5956479"/>
            <a:ext cx="608527" cy="1287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With SSO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2026-02-09T13:39:17Z</dcterms:created>
  <dc:creator>PptxGenJS</dc:creator>
</cp:coreProperties>
</file>